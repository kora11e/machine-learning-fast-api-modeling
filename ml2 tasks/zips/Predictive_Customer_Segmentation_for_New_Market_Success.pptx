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8" r:id="rId9"/>
    <p:sldId id="269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-370" y="-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3424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2A8375C-931F-8319-AF46-367EED56B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867C4327-0E44-492B-D53F-AA3295497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404CD1D-9FA5-CE22-C6C2-5DE5C4AAF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0CB4DA1-14B0-847E-9F18-8511FFA39E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992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1207322"/>
            <a:ext cx="5139928" cy="272885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639991" y="1207322"/>
            <a:ext cx="71438" cy="272885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776386"/>
            <a:ext cx="4829175" cy="3590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</a:rPr>
              <a:t>Predictive Customer Segmentation for New Market </a:t>
            </a:r>
            <a:r>
              <a:rPr lang="en-US" sz="3294" b="1" dirty="0" smtClean="0">
                <a:solidFill>
                  <a:srgbClr val="1A1A1A"/>
                </a:solidFill>
              </a:rPr>
              <a:t>Success</a:t>
            </a:r>
            <a:endParaRPr lang="pl-PL" sz="3294" b="1" dirty="0" smtClean="0">
              <a:solidFill>
                <a:srgbClr val="1A1A1A"/>
              </a:solidFill>
            </a:endParaRPr>
          </a:p>
          <a:p>
            <a:pPr marL="0" indent="0" algn="l">
              <a:lnSpc>
                <a:spcPts val="4000"/>
              </a:lnSpc>
              <a:buNone/>
            </a:pPr>
            <a:endParaRPr lang="pl-PL" sz="3294" b="1" dirty="0" smtClean="0">
              <a:solidFill>
                <a:srgbClr val="1A1A1A"/>
              </a:solidFill>
            </a:endParaRPr>
          </a:p>
          <a:p>
            <a:pPr marL="0" indent="0" algn="l">
              <a:lnSpc>
                <a:spcPts val="4000"/>
              </a:lnSpc>
              <a:buNone/>
            </a:pPr>
            <a:r>
              <a:rPr lang="pl-PL" sz="3294" b="1" dirty="0" err="1" smtClean="0"/>
              <a:t>Calculating</a:t>
            </a:r>
            <a:r>
              <a:rPr lang="pl-PL" sz="3294" b="1" dirty="0" smtClean="0"/>
              <a:t> </a:t>
            </a:r>
            <a:r>
              <a:rPr lang="pl-PL" sz="3294" b="1" dirty="0" err="1"/>
              <a:t>S</a:t>
            </a:r>
            <a:r>
              <a:rPr lang="pl-PL" sz="3294" b="1" dirty="0" err="1" smtClean="0"/>
              <a:t>ize</a:t>
            </a:r>
            <a:r>
              <a:rPr lang="pl-PL" sz="3294" b="1" dirty="0" smtClean="0"/>
              <a:t> </a:t>
            </a:r>
            <a:r>
              <a:rPr lang="pl-PL" sz="3294" b="1" dirty="0" smtClean="0"/>
              <a:t>of </a:t>
            </a:r>
            <a:r>
              <a:rPr lang="pl-PL" sz="3294" b="1" dirty="0" err="1"/>
              <a:t>I</a:t>
            </a:r>
            <a:r>
              <a:rPr lang="pl-PL" sz="3294" b="1" dirty="0" err="1" smtClean="0"/>
              <a:t>nsurance</a:t>
            </a:r>
            <a:r>
              <a:rPr lang="pl-PL" sz="3294" b="1" dirty="0" smtClean="0"/>
              <a:t> </a:t>
            </a:r>
            <a:r>
              <a:rPr lang="pl-PL" sz="3294" b="1" dirty="0" err="1"/>
              <a:t>C</a:t>
            </a:r>
            <a:r>
              <a:rPr lang="pl-PL" sz="3294" b="1" dirty="0" err="1" smtClean="0"/>
              <a:t>harge</a:t>
            </a:r>
            <a:r>
              <a:rPr lang="pl-PL" sz="3294" b="1" dirty="0" smtClean="0"/>
              <a:t> </a:t>
            </a:r>
            <a:r>
              <a:rPr lang="pl-PL" sz="3294" b="1" dirty="0" smtClean="0"/>
              <a:t>per </a:t>
            </a:r>
            <a:r>
              <a:rPr lang="pl-PL" sz="3294" b="1" dirty="0" err="1"/>
              <a:t>C</a:t>
            </a:r>
            <a:r>
              <a:rPr lang="pl-PL" sz="3294" b="1" dirty="0" err="1" smtClean="0"/>
              <a:t>ustomer</a:t>
            </a:r>
            <a:endParaRPr lang="en-US" sz="3294" b="1" dirty="0"/>
          </a:p>
        </p:txBody>
      </p:sp>
      <p:sp>
        <p:nvSpPr>
          <p:cNvPr id="6" name="Text 3"/>
          <p:cNvSpPr/>
          <p:nvPr/>
        </p:nvSpPr>
        <p:spPr>
          <a:xfrm>
            <a:off x="5972174" y="779159"/>
            <a:ext cx="2600325" cy="2359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04" dirty="0">
                <a:solidFill>
                  <a:srgbClr val="333333"/>
                </a:solidFill>
              </a:rPr>
              <a:t>Leveraging Machine Learning to Classify 2,627 New Potential </a:t>
            </a:r>
            <a:r>
              <a:rPr lang="en-US" sz="1704" dirty="0" smtClean="0">
                <a:solidFill>
                  <a:srgbClr val="333333"/>
                </a:solidFill>
              </a:rPr>
              <a:t>Customers</a:t>
            </a:r>
            <a:endParaRPr lang="pl-PL" sz="1704" dirty="0" smtClean="0">
              <a:solidFill>
                <a:srgbClr val="333333"/>
              </a:solidFill>
            </a:endParaRPr>
          </a:p>
          <a:p>
            <a:pPr marL="0" indent="0" algn="l">
              <a:lnSpc>
                <a:spcPts val="2300"/>
              </a:lnSpc>
              <a:buNone/>
            </a:pPr>
            <a:endParaRPr lang="pl-PL" sz="1704" dirty="0">
              <a:solidFill>
                <a:srgbClr val="333333"/>
              </a:solidFill>
            </a:endParaRPr>
          </a:p>
          <a:p>
            <a:pPr marL="0" indent="0" algn="l">
              <a:lnSpc>
                <a:spcPts val="2300"/>
              </a:lnSpc>
              <a:buNone/>
            </a:pPr>
            <a:endParaRPr lang="pl-PL" sz="1704" dirty="0" smtClean="0">
              <a:solidFill>
                <a:srgbClr val="333333"/>
              </a:solidFill>
            </a:endParaRPr>
          </a:p>
          <a:p>
            <a:pPr marL="0" indent="0" algn="l">
              <a:lnSpc>
                <a:spcPts val="2300"/>
              </a:lnSpc>
              <a:buNone/>
            </a:pPr>
            <a:r>
              <a:rPr lang="pl-PL" sz="1704" dirty="0" err="1" smtClean="0">
                <a:solidFill>
                  <a:srgbClr val="333333"/>
                </a:solidFill>
              </a:rPr>
              <a:t>Determining</a:t>
            </a:r>
            <a:r>
              <a:rPr lang="pl-PL" sz="1704" dirty="0" smtClean="0">
                <a:solidFill>
                  <a:srgbClr val="333333"/>
                </a:solidFill>
              </a:rPr>
              <a:t> </a:t>
            </a:r>
            <a:r>
              <a:rPr lang="pl-PL" sz="1704" dirty="0" err="1">
                <a:solidFill>
                  <a:srgbClr val="333333"/>
                </a:solidFill>
              </a:rPr>
              <a:t>C</a:t>
            </a:r>
            <a:r>
              <a:rPr lang="pl-PL" sz="1704" dirty="0" err="1" smtClean="0">
                <a:solidFill>
                  <a:srgbClr val="333333"/>
                </a:solidFill>
              </a:rPr>
              <a:t>ompensation</a:t>
            </a:r>
            <a:r>
              <a:rPr lang="pl-PL" sz="1704" dirty="0" smtClean="0">
                <a:solidFill>
                  <a:srgbClr val="333333"/>
                </a:solidFill>
              </a:rPr>
              <a:t> of </a:t>
            </a:r>
            <a:r>
              <a:rPr lang="pl-PL" sz="1704" dirty="0" err="1" smtClean="0">
                <a:solidFill>
                  <a:srgbClr val="333333"/>
                </a:solidFill>
              </a:rPr>
              <a:t>Insurance</a:t>
            </a:r>
            <a:r>
              <a:rPr lang="pl-PL" sz="1704" dirty="0" smtClean="0">
                <a:solidFill>
                  <a:srgbClr val="333333"/>
                </a:solidFill>
              </a:rPr>
              <a:t> Using Advanced Machine Learning</a:t>
            </a:r>
            <a:endParaRPr lang="en-US" sz="1704" dirty="0"/>
          </a:p>
        </p:txBody>
      </p:sp>
      <p:sp>
        <p:nvSpPr>
          <p:cNvPr id="7" name="Text 4"/>
          <p:cNvSpPr/>
          <p:nvPr/>
        </p:nvSpPr>
        <p:spPr>
          <a:xfrm>
            <a:off x="5972175" y="4377333"/>
            <a:ext cx="917367" cy="347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333333"/>
                </a:solidFill>
              </a:rPr>
              <a:t>Jamal </a:t>
            </a:r>
            <a:r>
              <a:rPr lang="en-US" sz="987" b="1" kern="0" spc="1" dirty="0" smtClean="0">
                <a:solidFill>
                  <a:srgbClr val="333333"/>
                </a:solidFill>
              </a:rPr>
              <a:t>Al-</a:t>
            </a:r>
            <a:r>
              <a:rPr lang="en-US" sz="987" b="1" kern="0" spc="1" dirty="0" err="1" smtClean="0">
                <a:solidFill>
                  <a:srgbClr val="333333"/>
                </a:solidFill>
              </a:rPr>
              <a:t>Shaweai</a:t>
            </a:r>
            <a:endParaRPr lang="pl-PL" sz="987" b="1" kern="0" spc="1" dirty="0" smtClean="0">
              <a:solidFill>
                <a:srgbClr val="333333"/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pl-PL" sz="987" b="1" kern="0" spc="1" dirty="0" smtClean="0">
                <a:solidFill>
                  <a:srgbClr val="333333"/>
                </a:solidFill>
              </a:rPr>
              <a:t>Karol </a:t>
            </a:r>
            <a:r>
              <a:rPr lang="pl-PL" sz="987" b="1" kern="0" spc="1" dirty="0" err="1" smtClean="0">
                <a:solidFill>
                  <a:srgbClr val="333333"/>
                </a:solidFill>
              </a:rPr>
              <a:t>Rochalski</a:t>
            </a:r>
            <a:endParaRPr lang="en-US" sz="9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The Foundation: A Balanced Classification Problem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734518" y="1241227"/>
            <a:ext cx="367744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333333"/>
                </a:solidFill>
              </a:rPr>
              <a:t>The project aims to successful segment outreach strategy in a new market by accurately predicting customer segments.</a:t>
            </a:r>
            <a:endParaRPr lang="en-US" sz="1269" dirty="0"/>
          </a:p>
        </p:txBody>
      </p:sp>
      <p:sp>
        <p:nvSpPr>
          <p:cNvPr id="8" name="Text 4"/>
          <p:cNvSpPr/>
          <p:nvPr/>
        </p:nvSpPr>
        <p:spPr>
          <a:xfrm>
            <a:off x="571500" y="1205508"/>
            <a:ext cx="805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95" dirty="0">
                <a:solidFill>
                  <a:srgbClr val="FF4500"/>
                </a:solidFill>
              </a:rPr>
              <a:t>•</a:t>
            </a:r>
            <a:endParaRPr lang="en-US" sz="1595" dirty="0"/>
          </a:p>
        </p:txBody>
      </p:sp>
      <p:sp>
        <p:nvSpPr>
          <p:cNvPr id="9" name="Text 5"/>
          <p:cNvSpPr/>
          <p:nvPr/>
        </p:nvSpPr>
        <p:spPr>
          <a:xfrm>
            <a:off x="4732037" y="1241227"/>
            <a:ext cx="3840463" cy="6858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Business Goal:</a:t>
            </a:r>
            <a:r>
              <a:rPr lang="en-US" sz="1050" dirty="0">
                <a:solidFill>
                  <a:srgbClr val="333333"/>
                </a:solidFill>
              </a:rPr>
              <a:t> Predict customer segments (A, B, C, D) for </a:t>
            </a:r>
            <a:r>
              <a:rPr lang="en-US" sz="987" b="1" dirty="0">
                <a:solidFill>
                  <a:srgbClr val="FF4500"/>
                </a:solidFill>
              </a:rPr>
              <a:t>2,627</a:t>
            </a:r>
            <a:r>
              <a:rPr lang="en-US" sz="1050" dirty="0">
                <a:solidFill>
                  <a:srgbClr val="333333"/>
                </a:solidFill>
              </a:rPr>
              <a:t> new market customers to enable targeted outreach.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4732036" y="1993456"/>
            <a:ext cx="3840463" cy="4572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Assumption:</a:t>
            </a:r>
            <a:r>
              <a:rPr lang="en-US" sz="1050" dirty="0">
                <a:solidFill>
                  <a:srgbClr val="333333"/>
                </a:solidFill>
              </a:rPr>
              <a:t> New market behavior is similar to the existing, successful segmented market.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4732037" y="2741414"/>
            <a:ext cx="3840463" cy="6858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Data Size:</a:t>
            </a:r>
            <a:r>
              <a:rPr lang="en-US" sz="1050" dirty="0">
                <a:solidFill>
                  <a:srgbClr val="333333"/>
                </a:solidFill>
              </a:rPr>
              <a:t> Training data of </a:t>
            </a:r>
            <a:r>
              <a:rPr lang="en-US" sz="987" b="1" dirty="0">
                <a:solidFill>
                  <a:srgbClr val="FF4500"/>
                </a:solidFill>
              </a:rPr>
              <a:t>8,068</a:t>
            </a:r>
            <a:r>
              <a:rPr lang="en-US" sz="1050" dirty="0">
                <a:solidFill>
                  <a:srgbClr val="333333"/>
                </a:solidFill>
              </a:rPr>
              <a:t> existing customers with </a:t>
            </a:r>
            <a:r>
              <a:rPr lang="en-US" sz="987" b="1" dirty="0">
                <a:solidFill>
                  <a:srgbClr val="FF4500"/>
                </a:solidFill>
              </a:rPr>
              <a:t>10 features</a:t>
            </a:r>
            <a:r>
              <a:rPr lang="en-US" sz="1050" dirty="0">
                <a:solidFill>
                  <a:srgbClr val="333333"/>
                </a:solidFill>
              </a:rPr>
              <a:t> (e.g., Age, Gender, Profession, Spending Score).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4732037" y="3605808"/>
            <a:ext cx="3840463" cy="6858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Target Balance:</a:t>
            </a:r>
            <a:r>
              <a:rPr lang="en-US" sz="1050" dirty="0">
                <a:solidFill>
                  <a:srgbClr val="333333"/>
                </a:solidFill>
              </a:rPr>
              <a:t> The four segments (A, B, C, D) are </a:t>
            </a:r>
            <a:r>
              <a:rPr lang="en-US" sz="987" b="1" dirty="0">
                <a:solidFill>
                  <a:srgbClr val="1A1A1A"/>
                </a:solidFill>
              </a:rPr>
              <a:t>well-balanced</a:t>
            </a:r>
            <a:r>
              <a:rPr lang="en-US" sz="1050" dirty="0">
                <a:solidFill>
                  <a:srgbClr val="333333"/>
                </a:solidFill>
              </a:rPr>
              <a:t>, with proportions ranging from </a:t>
            </a:r>
            <a:r>
              <a:rPr lang="en-US" sz="987" b="1" dirty="0">
                <a:solidFill>
                  <a:srgbClr val="FF4500"/>
                </a:solidFill>
              </a:rPr>
              <a:t>23.0% to 28.1%</a:t>
            </a:r>
            <a:r>
              <a:rPr lang="en-US" sz="1050" dirty="0">
                <a:solidFill>
                  <a:srgbClr val="333333"/>
                </a:solidFill>
              </a:rPr>
              <a:t>.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4732037" y="1205508"/>
            <a:ext cx="805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595" dirty="0">
                <a:solidFill>
                  <a:srgbClr val="FF4500"/>
                </a:solidFill>
              </a:rPr>
              <a:t>•</a:t>
            </a:r>
            <a:endParaRPr lang="en-US" sz="1595" dirty="0"/>
          </a:p>
        </p:txBody>
      </p:sp>
      <p:sp>
        <p:nvSpPr>
          <p:cNvPr id="14" name="Text 10"/>
          <p:cNvSpPr/>
          <p:nvPr/>
        </p:nvSpPr>
        <p:spPr>
          <a:xfrm>
            <a:off x="4732037" y="2069902"/>
            <a:ext cx="805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595" dirty="0">
                <a:solidFill>
                  <a:srgbClr val="FF4500"/>
                </a:solidFill>
              </a:rPr>
              <a:t>•</a:t>
            </a:r>
            <a:endParaRPr lang="en-US" sz="1595" dirty="0"/>
          </a:p>
        </p:txBody>
      </p:sp>
      <p:sp>
        <p:nvSpPr>
          <p:cNvPr id="15" name="Text 11"/>
          <p:cNvSpPr/>
          <p:nvPr/>
        </p:nvSpPr>
        <p:spPr>
          <a:xfrm>
            <a:off x="4732037" y="2705695"/>
            <a:ext cx="805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595" dirty="0">
                <a:solidFill>
                  <a:srgbClr val="FF4500"/>
                </a:solidFill>
              </a:rPr>
              <a:t>•</a:t>
            </a:r>
            <a:endParaRPr lang="en-US" sz="1595" dirty="0"/>
          </a:p>
        </p:txBody>
      </p:sp>
      <p:sp>
        <p:nvSpPr>
          <p:cNvPr id="16" name="Text 12"/>
          <p:cNvSpPr/>
          <p:nvPr/>
        </p:nvSpPr>
        <p:spPr>
          <a:xfrm>
            <a:off x="4732037" y="3570089"/>
            <a:ext cx="805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595" dirty="0">
                <a:solidFill>
                  <a:srgbClr val="FF4500"/>
                </a:solidFill>
              </a:rPr>
              <a:t>•</a:t>
            </a:r>
            <a:endParaRPr lang="en-US" sz="159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Consistent Data Preparation Ensures Model Reliability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241227"/>
            <a:ext cx="8001000" cy="18001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Challenge:</a:t>
            </a:r>
            <a:r>
              <a:rPr lang="en-US" sz="942" dirty="0">
                <a:solidFill>
                  <a:srgbClr val="333333"/>
                </a:solidFill>
              </a:rPr>
              <a:t> Missing values were present in six features, notably </a:t>
            </a:r>
            <a:r>
              <a:rPr lang="en-US" sz="885" b="1" dirty="0">
                <a:solidFill>
                  <a:srgbClr val="FF4500"/>
                </a:solidFill>
              </a:rPr>
              <a:t>Work_Experience (~10%)</a:t>
            </a:r>
            <a:r>
              <a:rPr lang="en-US" sz="942" dirty="0">
                <a:solidFill>
                  <a:srgbClr val="333333"/>
                </a:solidFill>
              </a:rPr>
              <a:t> and </a:t>
            </a:r>
            <a:r>
              <a:rPr lang="en-US" sz="885" b="1" dirty="0">
                <a:solidFill>
                  <a:srgbClr val="FF4500"/>
                </a:solidFill>
              </a:rPr>
              <a:t>Family_Size (~4%)</a:t>
            </a:r>
            <a:r>
              <a:rPr lang="en-US" sz="942" dirty="0">
                <a:solidFill>
                  <a:srgbClr val="333333"/>
                </a:solidFill>
              </a:rPr>
              <a:t>.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571500" y="1528400"/>
            <a:ext cx="8001000" cy="18001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Strategy:</a:t>
            </a:r>
            <a:r>
              <a:rPr lang="en-US" sz="942" dirty="0">
                <a:solidFill>
                  <a:srgbClr val="333333"/>
                </a:solidFill>
              </a:rPr>
              <a:t> A Scikit-learn </a:t>
            </a:r>
            <a:r>
              <a:rPr lang="en-US" sz="885" b="1" dirty="0">
                <a:solidFill>
                  <a:srgbClr val="FF4500"/>
                </a:solidFill>
              </a:rPr>
              <a:t>Pipeline</a:t>
            </a:r>
            <a:r>
              <a:rPr lang="en-US" sz="942" dirty="0">
                <a:solidFill>
                  <a:srgbClr val="333333"/>
                </a:solidFill>
              </a:rPr>
              <a:t> and </a:t>
            </a:r>
            <a:r>
              <a:rPr lang="en-US" sz="885" b="1" dirty="0">
                <a:solidFill>
                  <a:srgbClr val="FF4500"/>
                </a:solidFill>
              </a:rPr>
              <a:t>ColumnTransformer</a:t>
            </a:r>
            <a:r>
              <a:rPr lang="en-US" sz="942" dirty="0">
                <a:solidFill>
                  <a:srgbClr val="333333"/>
                </a:solidFill>
              </a:rPr>
              <a:t> were used for automated and consistent preprocessing.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71500" y="1205508"/>
            <a:ext cx="6714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23" dirty="0">
                <a:solidFill>
                  <a:srgbClr val="FF4500"/>
                </a:solidFill>
              </a:rPr>
              <a:t>•</a:t>
            </a:r>
            <a:endParaRPr lang="en-US" sz="1323" dirty="0"/>
          </a:p>
        </p:txBody>
      </p:sp>
      <p:sp>
        <p:nvSpPr>
          <p:cNvPr id="9" name="Text 6"/>
          <p:cNvSpPr/>
          <p:nvPr/>
        </p:nvSpPr>
        <p:spPr>
          <a:xfrm>
            <a:off x="571500" y="1492681"/>
            <a:ext cx="6714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23" dirty="0">
                <a:solidFill>
                  <a:srgbClr val="FF4500"/>
                </a:solidFill>
              </a:rPr>
              <a:t>•</a:t>
            </a:r>
            <a:endParaRPr lang="en-US" sz="1323" dirty="0"/>
          </a:p>
        </p:txBody>
      </p:sp>
      <p:sp>
        <p:nvSpPr>
          <p:cNvPr id="10" name="Shape 7"/>
          <p:cNvSpPr/>
          <p:nvPr/>
        </p:nvSpPr>
        <p:spPr>
          <a:xfrm>
            <a:off x="571500" y="2172760"/>
            <a:ext cx="4000500" cy="2236329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85813" y="2387073"/>
            <a:ext cx="3557588" cy="46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Numerical Features Pipeline (Age, Work_Experience, Family_Size)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785813" y="2997864"/>
            <a:ext cx="355758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1. Imputation: Missing values filled with the </a:t>
            </a:r>
            <a:r>
              <a:rPr lang="en-US" sz="885" b="1" dirty="0">
                <a:solidFill>
                  <a:srgbClr val="FF4500"/>
                </a:solidFill>
              </a:rPr>
              <a:t>Median</a:t>
            </a:r>
            <a:r>
              <a:rPr lang="en-US" sz="942" dirty="0">
                <a:solidFill>
                  <a:srgbClr val="333333"/>
                </a:solidFill>
              </a:rPr>
              <a:t>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785813" y="3285037"/>
            <a:ext cx="355758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2. Scaling: Features transformed using </a:t>
            </a:r>
            <a:r>
              <a:rPr lang="en-US" sz="885" b="1" dirty="0">
                <a:solidFill>
                  <a:srgbClr val="FF4500"/>
                </a:solidFill>
              </a:rPr>
              <a:t>StandardScaler</a:t>
            </a:r>
            <a:r>
              <a:rPr lang="en-US" sz="942" dirty="0">
                <a:solidFill>
                  <a:srgbClr val="333333"/>
                </a:solidFill>
              </a:rPr>
              <a:t> to normalize variance.</a:t>
            </a:r>
            <a:endParaRPr lang="en-US" sz="942" dirty="0"/>
          </a:p>
        </p:txBody>
      </p:sp>
      <p:sp>
        <p:nvSpPr>
          <p:cNvPr id="14" name="Shape 11"/>
          <p:cNvSpPr/>
          <p:nvPr/>
        </p:nvSpPr>
        <p:spPr>
          <a:xfrm>
            <a:off x="4557713" y="2172760"/>
            <a:ext cx="4014788" cy="2236329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86313" y="2387073"/>
            <a:ext cx="3571875" cy="701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Categorical Features Pipeline (Gender, Profession, Spending_Score, etc.)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4786313" y="3231821"/>
            <a:ext cx="35718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1. Imputation: Missing values filled with the </a:t>
            </a:r>
            <a:r>
              <a:rPr lang="en-US" sz="885" b="1" dirty="0">
                <a:solidFill>
                  <a:srgbClr val="FF4500"/>
                </a:solidFill>
              </a:rPr>
              <a:t>Most Frequent</a:t>
            </a:r>
            <a:r>
              <a:rPr lang="en-US" sz="942" dirty="0">
                <a:solidFill>
                  <a:srgbClr val="333333"/>
                </a:solidFill>
              </a:rPr>
              <a:t> category.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4786313" y="3699011"/>
            <a:ext cx="35718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2. Encoding: Features converted to numerical format using </a:t>
            </a:r>
            <a:r>
              <a:rPr lang="en-US" sz="885" b="1" dirty="0">
                <a:solidFill>
                  <a:srgbClr val="FF4500"/>
                </a:solidFill>
              </a:rPr>
              <a:t>One-Hot Encoding</a:t>
            </a:r>
            <a:r>
              <a:rPr lang="en-US" sz="942" dirty="0">
                <a:solidFill>
                  <a:srgbClr val="333333"/>
                </a:solidFill>
              </a:rPr>
              <a:t>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Gradient Boosting Outperforms Other Models in Accuracy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571500" y="1169789"/>
            <a:ext cx="3471863" cy="2269927"/>
          </a:xfrm>
          <a:prstGeom prst="rect">
            <a:avLst/>
          </a:prstGeom>
          <a:solidFill>
            <a:srgbClr val="FFFFFF"/>
          </a:solidFill>
          <a:ln w="18288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1500" y="1169789"/>
            <a:ext cx="1742712" cy="35183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1500" y="1169789"/>
            <a:ext cx="1742712" cy="35183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2F2"/>
                </a:solidFill>
              </a:rPr>
              <a:t>Model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2314212" y="1169789"/>
            <a:ext cx="1729150" cy="35183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314212" y="1169789"/>
            <a:ext cx="1729150" cy="35183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2F2"/>
                </a:solidFill>
              </a:rPr>
              <a:t>Validation Accuracy</a:t>
            </a:r>
            <a:endParaRPr lang="en-US" sz="784" dirty="0"/>
          </a:p>
        </p:txBody>
      </p:sp>
      <p:sp>
        <p:nvSpPr>
          <p:cNvPr id="11" name="Shape 8"/>
          <p:cNvSpPr/>
          <p:nvPr/>
        </p:nvSpPr>
        <p:spPr>
          <a:xfrm>
            <a:off x="571500" y="1521619"/>
            <a:ext cx="3471863" cy="312539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1500" y="1521619"/>
            <a:ext cx="1742712" cy="31253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Gradient Boosting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2314212" y="1521619"/>
            <a:ext cx="1729150" cy="312539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314212" y="1827014"/>
            <a:ext cx="1729150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314212" y="1521619"/>
            <a:ext cx="1729150" cy="31253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53.90%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571500" y="1834158"/>
            <a:ext cx="1742712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Ensemble Model (Voting)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2314212" y="1834158"/>
            <a:ext cx="172915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52.91%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571500" y="2150269"/>
            <a:ext cx="1742712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XGBoost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2314212" y="2150269"/>
            <a:ext cx="172915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51.92%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571500" y="2466380"/>
            <a:ext cx="1742712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Random Forest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2314212" y="2466380"/>
            <a:ext cx="172915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49.50%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571500" y="2782491"/>
            <a:ext cx="1742712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Neural Network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2314212" y="2782491"/>
            <a:ext cx="1729150" cy="316111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49.38%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571500" y="3098602"/>
            <a:ext cx="1742712" cy="31253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Decision Tree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2314212" y="3098602"/>
            <a:ext cx="1729150" cy="31253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42.19%</a:t>
            </a:r>
            <a:endParaRPr lang="en-US" sz="784" dirty="0"/>
          </a:p>
        </p:txBody>
      </p:sp>
      <p:sp>
        <p:nvSpPr>
          <p:cNvPr id="26" name="Shape 23"/>
          <p:cNvSpPr/>
          <p:nvPr/>
        </p:nvSpPr>
        <p:spPr>
          <a:xfrm>
            <a:off x="571500" y="3468291"/>
            <a:ext cx="3471863" cy="98583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71500" y="3468291"/>
            <a:ext cx="28575" cy="985838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71500" y="3468291"/>
            <a:ext cx="3471863" cy="98583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Key Finding:</a:t>
            </a:r>
            <a:r>
              <a:rPr lang="en-US" sz="942" dirty="0">
                <a:solidFill>
                  <a:srgbClr val="333333"/>
                </a:solidFill>
              </a:rPr>
              <a:t> Six distinct classification models were trained and evaluated on a validation set (20% of training data). Gradient Boosting achieved the highest accuracy.</a:t>
            </a:r>
            <a:endParaRPr lang="en-US" sz="885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113" y="1442145"/>
            <a:ext cx="4243388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Gradient Boosting: The Optimal Predictor for Segmentation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241227"/>
            <a:ext cx="252411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1A1A1A"/>
                </a:solidFill>
              </a:rPr>
              <a:t>Selection Rationale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571500" y="1521619"/>
            <a:ext cx="252411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4500"/>
                </a:solidFill>
              </a:rPr>
              <a:t>53.90%</a:t>
            </a:r>
            <a:endParaRPr lang="en-US" sz="2436" dirty="0"/>
          </a:p>
        </p:txBody>
      </p:sp>
      <p:sp>
        <p:nvSpPr>
          <p:cNvPr id="8" name="Text 5"/>
          <p:cNvSpPr/>
          <p:nvPr/>
        </p:nvSpPr>
        <p:spPr>
          <a:xfrm>
            <a:off x="571500" y="1921669"/>
            <a:ext cx="25241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Validation Accuracy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71500" y="2162770"/>
            <a:ext cx="2524116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</a:t>
            </a:r>
            <a:r>
              <a:rPr lang="en-US" sz="885" b="1" dirty="0">
                <a:solidFill>
                  <a:srgbClr val="1A1A1A"/>
                </a:solidFill>
              </a:rPr>
              <a:t>Gradient Boosting Classifier</a:t>
            </a:r>
            <a:r>
              <a:rPr lang="en-US" sz="942" dirty="0">
                <a:solidFill>
                  <a:srgbClr val="333333"/>
                </a:solidFill>
              </a:rPr>
              <a:t> achieved the highest accuracy among evaluated models, showing superior predictive power for customer segmentation.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71500" y="3334234"/>
            <a:ext cx="2524116" cy="689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1500" y="3334234"/>
            <a:ext cx="42863" cy="68970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7225" y="3419959"/>
            <a:ext cx="23526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Outperformed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657225" y="3618198"/>
            <a:ext cx="235266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Ensemble Model (52.91%), XGBoost (51.92%) and other baselines.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3309928" y="1241227"/>
            <a:ext cx="252411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1A1A1A"/>
                </a:solidFill>
              </a:rPr>
              <a:t>Model Type &amp; Mechanism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3309928" y="1521619"/>
            <a:ext cx="2524116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Gradient Boosting</a:t>
            </a:r>
            <a:r>
              <a:rPr lang="en-US" sz="942" dirty="0">
                <a:solidFill>
                  <a:srgbClr val="333333"/>
                </a:solidFill>
              </a:rPr>
              <a:t> is an </a:t>
            </a:r>
            <a:r>
              <a:rPr lang="en-US" sz="885" b="1" dirty="0">
                <a:solidFill>
                  <a:srgbClr val="FF4500"/>
                </a:solidFill>
              </a:rPr>
              <a:t>ensemble technique</a:t>
            </a:r>
            <a:r>
              <a:rPr lang="en-US" sz="942" dirty="0">
                <a:solidFill>
                  <a:srgbClr val="333333"/>
                </a:solidFill>
              </a:rPr>
              <a:t> that builds sequential trees, where each new tree corrects earlier errors.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3309928" y="2401639"/>
            <a:ext cx="252411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This iterative process improves predictions for complex multi-class tasks.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3309928" y="2955950"/>
            <a:ext cx="2524116" cy="6897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309928" y="2955950"/>
            <a:ext cx="42863" cy="689707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395653" y="3041675"/>
            <a:ext cx="23526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Key Advantage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3395653" y="3239914"/>
            <a:ext cx="2352666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Effectively handles feature interactions and non-linear relationships.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6048356" y="1241227"/>
            <a:ext cx="252411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1A1A1A"/>
                </a:solidFill>
              </a:rPr>
              <a:t>Application &amp; Future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6048356" y="1521619"/>
            <a:ext cx="252411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trained Gradient Boosting model was used to classify </a:t>
            </a:r>
            <a:r>
              <a:rPr lang="en-US" sz="885" b="1" dirty="0">
                <a:solidFill>
                  <a:srgbClr val="FF4500"/>
                </a:solidFill>
              </a:rPr>
              <a:t>2,627 new customers</a:t>
            </a:r>
            <a:r>
              <a:rPr lang="en-US" sz="942" dirty="0">
                <a:solidFill>
                  <a:srgbClr val="333333"/>
                </a:solidFill>
              </a:rPr>
              <a:t> in the test set.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6048356" y="2195922"/>
            <a:ext cx="2524116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Each customer received a predicted segment (A, B, C, or D) for targeted outreach.</a:t>
            </a:r>
            <a:endParaRPr lang="en-US" sz="942" dirty="0"/>
          </a:p>
        </p:txBody>
      </p:sp>
      <p:sp>
        <p:nvSpPr>
          <p:cNvPr id="24" name="Shape 21"/>
          <p:cNvSpPr/>
          <p:nvPr/>
        </p:nvSpPr>
        <p:spPr>
          <a:xfrm>
            <a:off x="6048356" y="2955950"/>
            <a:ext cx="2524116" cy="84971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048356" y="2955950"/>
            <a:ext cx="42863" cy="849716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134081" y="3041675"/>
            <a:ext cx="23526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Next Steps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6134081" y="3239914"/>
            <a:ext cx="2352666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Further gains may be achieved through hyperparameter tuning and robust cross-validation.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Enabling Targeted Outreach in New Markets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241227"/>
            <a:ext cx="38404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A1A1A"/>
                </a:solidFill>
              </a:rPr>
              <a:t>Deliverables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1541264"/>
            <a:ext cx="3840463" cy="38576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 file (</a:t>
            </a:r>
            <a:r>
              <a:rPr lang="en-US" sz="885" b="1" dirty="0">
                <a:solidFill>
                  <a:srgbClr val="FF4500"/>
                </a:solidFill>
              </a:rPr>
              <a:t>Predicted_Customer_Segments.csv</a:t>
            </a:r>
            <a:r>
              <a:rPr lang="en-US" sz="942" dirty="0">
                <a:solidFill>
                  <a:srgbClr val="333333"/>
                </a:solidFill>
              </a:rPr>
              <a:t>) with predicted segment (A, B, C, or D) for every customer ID.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2012752"/>
            <a:ext cx="3840463" cy="38576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2,627 classified customers</a:t>
            </a:r>
            <a:r>
              <a:rPr lang="en-US" sz="942" dirty="0">
                <a:solidFill>
                  <a:srgbClr val="333333"/>
                </a:solidFill>
              </a:rPr>
              <a:t> ready for segmented outreach campaigns.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71500" y="1519833"/>
            <a:ext cx="7520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FF4500"/>
                </a:solidFill>
              </a:rPr>
              <a:t>•</a:t>
            </a:r>
            <a:endParaRPr lang="en-US" sz="1486" dirty="0"/>
          </a:p>
        </p:txBody>
      </p:sp>
      <p:sp>
        <p:nvSpPr>
          <p:cNvPr id="10" name="Text 7"/>
          <p:cNvSpPr/>
          <p:nvPr/>
        </p:nvSpPr>
        <p:spPr>
          <a:xfrm>
            <a:off x="571500" y="1991320"/>
            <a:ext cx="7520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FF4500"/>
                </a:solidFill>
              </a:rPr>
              <a:t>•</a:t>
            </a:r>
            <a:endParaRPr lang="en-US" sz="1486" dirty="0"/>
          </a:p>
        </p:txBody>
      </p:sp>
      <p:sp>
        <p:nvSpPr>
          <p:cNvPr id="11" name="Text 8"/>
          <p:cNvSpPr/>
          <p:nvPr/>
        </p:nvSpPr>
        <p:spPr>
          <a:xfrm>
            <a:off x="571500" y="3328988"/>
            <a:ext cx="38404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A1A1A"/>
                </a:solidFill>
              </a:rPr>
              <a:t>Strategic Value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571500" y="3629025"/>
            <a:ext cx="3840463" cy="38576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Apply the </a:t>
            </a:r>
            <a:r>
              <a:rPr lang="en-US" sz="885" b="1" dirty="0">
                <a:solidFill>
                  <a:srgbClr val="1A1A1A"/>
                </a:solidFill>
              </a:rPr>
              <a:t>proven, segmented outreach strategy</a:t>
            </a:r>
            <a:r>
              <a:rPr lang="en-US" sz="942" dirty="0">
                <a:solidFill>
                  <a:srgbClr val="333333"/>
                </a:solidFill>
              </a:rPr>
              <a:t> immediately in the new market.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571500" y="4100513"/>
            <a:ext cx="3840463" cy="38576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Maximize marketing ROI by focusing resources on relevant customer groups.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1500" y="3607594"/>
            <a:ext cx="7520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FF4500"/>
                </a:solidFill>
              </a:rPr>
              <a:t>•</a:t>
            </a:r>
            <a:endParaRPr lang="en-US" sz="1486" dirty="0"/>
          </a:p>
        </p:txBody>
      </p:sp>
      <p:sp>
        <p:nvSpPr>
          <p:cNvPr id="15" name="Text 12"/>
          <p:cNvSpPr/>
          <p:nvPr/>
        </p:nvSpPr>
        <p:spPr>
          <a:xfrm>
            <a:off x="571500" y="4079081"/>
            <a:ext cx="7520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FF4500"/>
                </a:solidFill>
              </a:rPr>
              <a:t>•</a:t>
            </a:r>
            <a:endParaRPr lang="en-US" sz="1486" dirty="0"/>
          </a:p>
        </p:txBody>
      </p:sp>
      <p:sp>
        <p:nvSpPr>
          <p:cNvPr id="16" name="Text 13"/>
          <p:cNvSpPr/>
          <p:nvPr/>
        </p:nvSpPr>
        <p:spPr>
          <a:xfrm>
            <a:off x="4732037" y="1241227"/>
            <a:ext cx="38404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A1A1A"/>
                </a:solidFill>
              </a:rPr>
              <a:t>Recommendations</a:t>
            </a:r>
            <a:endParaRPr lang="en-US" sz="1090" dirty="0"/>
          </a:p>
        </p:txBody>
      </p:sp>
      <p:sp>
        <p:nvSpPr>
          <p:cNvPr id="17" name="Shape 14"/>
          <p:cNvSpPr/>
          <p:nvPr/>
        </p:nvSpPr>
        <p:spPr>
          <a:xfrm>
            <a:off x="4732037" y="1541264"/>
            <a:ext cx="3840463" cy="67151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874912" y="1684139"/>
            <a:ext cx="355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2F2F2"/>
                </a:solidFill>
              </a:rPr>
              <a:t>Integrate this model into customer onboarding for </a:t>
            </a:r>
            <a:r>
              <a:rPr lang="en-US" sz="885" b="1" dirty="0">
                <a:solidFill>
                  <a:srgbClr val="FF4500"/>
                </a:solidFill>
              </a:rPr>
              <a:t>real-time segmentation</a:t>
            </a:r>
            <a:r>
              <a:rPr lang="en-US" sz="885" b="1" dirty="0">
                <a:solidFill>
                  <a:srgbClr val="F2F2F2"/>
                </a:solidFill>
              </a:rPr>
              <a:t> of future leads.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732037" y="3343275"/>
            <a:ext cx="38404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A1A1A"/>
                </a:solidFill>
              </a:rPr>
              <a:t>Expected Impact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4732037" y="3643313"/>
            <a:ext cx="38404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Accelerate market penetration through data-driven customer engagement.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4732037" y="4100513"/>
            <a:ext cx="3840463" cy="385763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Improved satisfaction through personalized messaging tailored to segment preferences.</a:t>
            </a:r>
            <a:endParaRPr lang="en-US" sz="942" dirty="0"/>
          </a:p>
        </p:txBody>
      </p:sp>
      <p:sp>
        <p:nvSpPr>
          <p:cNvPr id="22" name="Text 19"/>
          <p:cNvSpPr/>
          <p:nvPr/>
        </p:nvSpPr>
        <p:spPr>
          <a:xfrm>
            <a:off x="4732037" y="4079081"/>
            <a:ext cx="7520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FF4500"/>
                </a:solidFill>
              </a:rPr>
              <a:t>•</a:t>
            </a:r>
            <a:endParaRPr lang="en-US" sz="1486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" y="972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71500"/>
            <a:ext cx="8001000" cy="36804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pl-PL" sz="1602" b="1" dirty="0" err="1" smtClean="0">
                <a:solidFill>
                  <a:srgbClr val="1A1A1A"/>
                </a:solidFill>
              </a:rPr>
              <a:t>Defining</a:t>
            </a:r>
            <a:r>
              <a:rPr lang="pl-PL" sz="1602" b="1" dirty="0" smtClean="0">
                <a:solidFill>
                  <a:srgbClr val="1A1A1A"/>
                </a:solidFill>
              </a:rPr>
              <a:t> problem and </a:t>
            </a:r>
            <a:r>
              <a:rPr lang="pl-PL" sz="1602" b="1" dirty="0" err="1" smtClean="0">
                <a:solidFill>
                  <a:srgbClr val="1A1A1A"/>
                </a:solidFill>
              </a:rPr>
              <a:t>analyzing</a:t>
            </a:r>
            <a:r>
              <a:rPr lang="pl-PL" sz="1602" b="1" dirty="0" smtClean="0">
                <a:solidFill>
                  <a:srgbClr val="1A1A1A"/>
                </a:solidFill>
              </a:rPr>
              <a:t> data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241227"/>
            <a:ext cx="2196820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pl-PL" sz="987" b="1" kern="0" spc="1" dirty="0" err="1" smtClean="0">
                <a:solidFill>
                  <a:srgbClr val="1A1A1A"/>
                </a:solidFill>
              </a:rPr>
              <a:t>Exponential</a:t>
            </a:r>
            <a:r>
              <a:rPr lang="pl-PL" sz="987" b="1" kern="0" spc="1" dirty="0" smtClean="0">
                <a:solidFill>
                  <a:srgbClr val="1A1A1A"/>
                </a:solidFill>
              </a:rPr>
              <a:t> </a:t>
            </a:r>
            <a:r>
              <a:rPr lang="pl-PL" sz="987" b="1" kern="0" spc="1" dirty="0">
                <a:solidFill>
                  <a:srgbClr val="1A1A1A"/>
                </a:solidFill>
              </a:rPr>
              <a:t>D</a:t>
            </a:r>
            <a:r>
              <a:rPr lang="pl-PL" sz="987" b="1" kern="0" spc="1" dirty="0" smtClean="0">
                <a:solidFill>
                  <a:srgbClr val="1A1A1A"/>
                </a:solidFill>
              </a:rPr>
              <a:t>istribution of target </a:t>
            </a:r>
            <a:r>
              <a:rPr lang="pl-PL" sz="987" b="1" kern="0" spc="1" dirty="0" err="1" smtClean="0">
                <a:solidFill>
                  <a:srgbClr val="1A1A1A"/>
                </a:solidFill>
              </a:rPr>
              <a:t>variable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1921669"/>
            <a:ext cx="25241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Validation Accuracy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3309928" y="1241227"/>
            <a:ext cx="1290418" cy="1795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pl-PL" sz="987" b="1" kern="0" spc="1" dirty="0" err="1" smtClean="0">
                <a:solidFill>
                  <a:srgbClr val="1A1A1A"/>
                </a:solidFill>
              </a:rPr>
              <a:t>Correlation</a:t>
            </a:r>
            <a:r>
              <a:rPr lang="pl-PL" sz="987" b="1" kern="0" spc="1" dirty="0" smtClean="0">
                <a:solidFill>
                  <a:srgbClr val="1A1A1A"/>
                </a:solidFill>
              </a:rPr>
              <a:t> of </a:t>
            </a:r>
            <a:r>
              <a:rPr lang="pl-PL" sz="987" b="1" kern="0" spc="1" dirty="0" err="1" smtClean="0">
                <a:solidFill>
                  <a:srgbClr val="1A1A1A"/>
                </a:solidFill>
              </a:rPr>
              <a:t>predictors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3338288" y="3027101"/>
            <a:ext cx="1320618" cy="1680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pl-PL" sz="987" b="1" kern="0" spc="1" dirty="0" err="1" smtClean="0">
                <a:solidFill>
                  <a:srgbClr val="1A1A1A"/>
                </a:solidFill>
              </a:rPr>
              <a:t>Smoker-Charges</a:t>
            </a:r>
            <a:r>
              <a:rPr lang="pl-PL" sz="987" b="1" kern="0" spc="1" dirty="0" smtClean="0">
                <a:solidFill>
                  <a:srgbClr val="1A1A1A"/>
                </a:solidFill>
              </a:rPr>
              <a:t> </a:t>
            </a:r>
            <a:r>
              <a:rPr lang="pl-PL" sz="987" b="1" kern="0" spc="1" dirty="0" err="1" smtClean="0">
                <a:solidFill>
                  <a:srgbClr val="1A1A1A"/>
                </a:solidFill>
              </a:rPr>
              <a:t>Relation</a:t>
            </a:r>
            <a:endParaRPr lang="en-US" sz="987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65" y="1459953"/>
            <a:ext cx="2455983" cy="1581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465" y="3191358"/>
            <a:ext cx="2503532" cy="158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28" y="1462683"/>
            <a:ext cx="4202715" cy="1491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928" y="3221767"/>
            <a:ext cx="2378357" cy="1501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184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71500"/>
            <a:ext cx="8001000" cy="36804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pl-PL" sz="1602" b="1" dirty="0" err="1" smtClean="0">
                <a:solidFill>
                  <a:srgbClr val="1A1A1A"/>
                </a:solidFill>
              </a:rPr>
              <a:t>Models</a:t>
            </a:r>
            <a:r>
              <a:rPr lang="pl-PL" sz="1602" b="1" dirty="0" smtClean="0">
                <a:solidFill>
                  <a:srgbClr val="1A1A1A"/>
                </a:solidFill>
              </a:rPr>
              <a:t> </a:t>
            </a:r>
            <a:r>
              <a:rPr lang="pl-PL" sz="1602" b="1" dirty="0" err="1" smtClean="0">
                <a:solidFill>
                  <a:srgbClr val="1A1A1A"/>
                </a:solidFill>
              </a:rPr>
              <a:t>training</a:t>
            </a:r>
            <a:r>
              <a:rPr lang="pl-PL" sz="1602" b="1" dirty="0" smtClean="0">
                <a:solidFill>
                  <a:srgbClr val="1A1A1A"/>
                </a:solidFill>
              </a:rPr>
              <a:t> – </a:t>
            </a:r>
            <a:r>
              <a:rPr lang="pl-PL" sz="1602" b="1" dirty="0" err="1" smtClean="0">
                <a:solidFill>
                  <a:srgbClr val="1A1A1A"/>
                </a:solidFill>
              </a:rPr>
              <a:t>Random</a:t>
            </a:r>
            <a:r>
              <a:rPr lang="pl-PL" sz="1602" b="1" dirty="0" smtClean="0">
                <a:solidFill>
                  <a:srgbClr val="1A1A1A"/>
                </a:solidFill>
              </a:rPr>
              <a:t> </a:t>
            </a:r>
            <a:r>
              <a:rPr lang="pl-PL" sz="1602" b="1" dirty="0" err="1" smtClean="0">
                <a:solidFill>
                  <a:srgbClr val="1A1A1A"/>
                </a:solidFill>
              </a:rPr>
              <a:t>Forest</a:t>
            </a:r>
            <a:r>
              <a:rPr lang="pl-PL" sz="1602" b="1" dirty="0" smtClean="0">
                <a:solidFill>
                  <a:srgbClr val="1A1A1A"/>
                </a:solidFill>
              </a:rPr>
              <a:t>, Extreme Gradient Booster, </a:t>
            </a:r>
            <a:r>
              <a:rPr lang="pl-PL" sz="1602" b="1" dirty="0" err="1" smtClean="0">
                <a:solidFill>
                  <a:srgbClr val="1A1A1A"/>
                </a:solidFill>
              </a:rPr>
              <a:t>Dense</a:t>
            </a:r>
            <a:r>
              <a:rPr lang="pl-PL" sz="1602" b="1" dirty="0" smtClean="0">
                <a:solidFill>
                  <a:srgbClr val="1A1A1A"/>
                </a:solidFill>
              </a:rPr>
              <a:t> </a:t>
            </a:r>
            <a:r>
              <a:rPr lang="pl-PL" sz="1602" b="1" dirty="0" err="1" smtClean="0">
                <a:solidFill>
                  <a:srgbClr val="1A1A1A"/>
                </a:solidFill>
              </a:rPr>
              <a:t>Neural</a:t>
            </a:r>
            <a:r>
              <a:rPr lang="pl-PL" sz="1602" b="1" dirty="0" smtClean="0">
                <a:solidFill>
                  <a:srgbClr val="1A1A1A"/>
                </a:solidFill>
              </a:rPr>
              <a:t> Network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241227"/>
            <a:ext cx="973600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pl-PL" sz="1090" b="1" kern="0" spc="1" dirty="0" smtClean="0">
                <a:solidFill>
                  <a:srgbClr val="1A1A1A"/>
                </a:solidFill>
              </a:rPr>
              <a:t>Training </a:t>
            </a:r>
            <a:r>
              <a:rPr lang="pl-PL" sz="1090" b="1" kern="0" spc="1" dirty="0" err="1" smtClean="0">
                <a:solidFill>
                  <a:srgbClr val="1A1A1A"/>
                </a:solidFill>
              </a:rPr>
              <a:t>pipeline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1541264"/>
            <a:ext cx="3840463" cy="1346522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pl-PL" sz="942" dirty="0" err="1" smtClean="0">
                <a:solidFill>
                  <a:srgbClr val="333333"/>
                </a:solidFill>
              </a:rPr>
              <a:t>Scaling</a:t>
            </a:r>
            <a:r>
              <a:rPr lang="pl-PL" sz="942" dirty="0" smtClean="0">
                <a:solidFill>
                  <a:srgbClr val="333333"/>
                </a:solidFill>
              </a:rPr>
              <a:t> data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pl-PL" sz="942" dirty="0" err="1" smtClean="0">
                <a:solidFill>
                  <a:srgbClr val="333333"/>
                </a:solidFill>
              </a:rPr>
              <a:t>Defining</a:t>
            </a:r>
            <a:r>
              <a:rPr lang="pl-PL" sz="942" dirty="0" smtClean="0">
                <a:solidFill>
                  <a:srgbClr val="333333"/>
                </a:solidFill>
              </a:rPr>
              <a:t> </a:t>
            </a:r>
            <a:r>
              <a:rPr lang="pl-PL" sz="942" dirty="0" err="1" smtClean="0">
                <a:solidFill>
                  <a:srgbClr val="333333"/>
                </a:solidFill>
              </a:rPr>
              <a:t>hyperparameter</a:t>
            </a:r>
            <a:r>
              <a:rPr lang="pl-PL" sz="942" dirty="0" smtClean="0">
                <a:solidFill>
                  <a:srgbClr val="333333"/>
                </a:solidFill>
              </a:rPr>
              <a:t> </a:t>
            </a:r>
            <a:r>
              <a:rPr lang="pl-PL" sz="942" dirty="0" err="1" smtClean="0">
                <a:solidFill>
                  <a:srgbClr val="333333"/>
                </a:solidFill>
              </a:rPr>
              <a:t>tuning</a:t>
            </a:r>
            <a:r>
              <a:rPr lang="pl-PL" sz="942" dirty="0" smtClean="0">
                <a:solidFill>
                  <a:srgbClr val="333333"/>
                </a:solidFill>
              </a:rPr>
              <a:t> </a:t>
            </a:r>
            <a:r>
              <a:rPr lang="pl-PL" sz="942" dirty="0" err="1" smtClean="0">
                <a:solidFill>
                  <a:srgbClr val="333333"/>
                </a:solidFill>
              </a:rPr>
              <a:t>minimizing</a:t>
            </a:r>
            <a:r>
              <a:rPr lang="pl-PL" sz="942" dirty="0" smtClean="0">
                <a:solidFill>
                  <a:srgbClr val="333333"/>
                </a:solidFill>
              </a:rPr>
              <a:t> </a:t>
            </a:r>
            <a:r>
              <a:rPr lang="pl-PL" sz="942" dirty="0" err="1" smtClean="0">
                <a:solidFill>
                  <a:srgbClr val="333333"/>
                </a:solidFill>
              </a:rPr>
              <a:t>function</a:t>
            </a:r>
            <a:endParaRPr lang="pl-PL" sz="942" dirty="0" smtClean="0">
              <a:solidFill>
                <a:srgbClr val="333333"/>
              </a:solidFill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pl-PL" sz="942" dirty="0" err="1" smtClean="0"/>
              <a:t>Fitting</a:t>
            </a:r>
            <a:r>
              <a:rPr lang="pl-PL" sz="942" dirty="0" smtClean="0"/>
              <a:t> the model </a:t>
            </a:r>
            <a:r>
              <a:rPr lang="pl-PL" sz="942" dirty="0" err="1" smtClean="0"/>
              <a:t>into</a:t>
            </a:r>
            <a:r>
              <a:rPr lang="pl-PL" sz="942" dirty="0" smtClean="0"/>
              <a:t> </a:t>
            </a:r>
            <a:r>
              <a:rPr lang="pl-PL" sz="942" dirty="0" err="1" smtClean="0"/>
              <a:t>shuffled</a:t>
            </a:r>
            <a:r>
              <a:rPr lang="pl-PL" sz="942" dirty="0" smtClean="0"/>
              <a:t> </a:t>
            </a:r>
            <a:r>
              <a:rPr lang="pl-PL" sz="942" dirty="0" err="1" smtClean="0"/>
              <a:t>Kfold</a:t>
            </a:r>
            <a:r>
              <a:rPr lang="pl-PL" sz="942" dirty="0" smtClean="0"/>
              <a:t> </a:t>
            </a:r>
            <a:r>
              <a:rPr lang="pl-PL" sz="942" dirty="0" err="1" smtClean="0"/>
              <a:t>validator</a:t>
            </a:r>
            <a:r>
              <a:rPr lang="pl-PL" sz="942" dirty="0" smtClean="0"/>
              <a:t> for </a:t>
            </a:r>
            <a:r>
              <a:rPr lang="pl-PL" sz="942" dirty="0" err="1" smtClean="0"/>
              <a:t>each</a:t>
            </a:r>
            <a:r>
              <a:rPr lang="pl-PL" sz="942" dirty="0" smtClean="0"/>
              <a:t> </a:t>
            </a:r>
            <a:r>
              <a:rPr lang="pl-PL" sz="942" dirty="0" err="1" smtClean="0"/>
              <a:t>iteration</a:t>
            </a:r>
            <a:endParaRPr lang="pl-PL" sz="942" dirty="0" smtClean="0"/>
          </a:p>
          <a:p>
            <a:pPr marL="0" indent="0" algn="l">
              <a:lnSpc>
                <a:spcPts val="1500"/>
              </a:lnSpc>
              <a:buNone/>
            </a:pPr>
            <a:r>
              <a:rPr lang="pl-PL" sz="942" dirty="0" err="1" smtClean="0"/>
              <a:t>Testing</a:t>
            </a:r>
            <a:r>
              <a:rPr lang="pl-PL" sz="942" dirty="0" smtClean="0"/>
              <a:t> performance on </a:t>
            </a:r>
            <a:r>
              <a:rPr lang="pl-PL" sz="942" dirty="0" err="1" smtClean="0"/>
              <a:t>all</a:t>
            </a:r>
            <a:r>
              <a:rPr lang="pl-PL" sz="942" dirty="0" smtClean="0"/>
              <a:t> 3 data </a:t>
            </a:r>
            <a:r>
              <a:rPr lang="pl-PL" sz="942" dirty="0" err="1" smtClean="0"/>
              <a:t>splits</a:t>
            </a:r>
            <a:r>
              <a:rPr lang="pl-PL" sz="942" dirty="0" smtClean="0"/>
              <a:t> for the </a:t>
            </a:r>
            <a:r>
              <a:rPr lang="pl-PL" sz="942" dirty="0" err="1" smtClean="0"/>
              <a:t>best</a:t>
            </a:r>
            <a:r>
              <a:rPr lang="pl-PL" sz="942" dirty="0" smtClean="0"/>
              <a:t> set of </a:t>
            </a:r>
            <a:r>
              <a:rPr lang="pl-PL" sz="942" dirty="0" err="1" smtClean="0"/>
              <a:t>parameters</a:t>
            </a:r>
            <a:endParaRPr lang="pl-PL" sz="942" dirty="0" smtClean="0"/>
          </a:p>
          <a:p>
            <a:pPr marL="0" indent="0" algn="l">
              <a:lnSpc>
                <a:spcPts val="1500"/>
              </a:lnSpc>
              <a:buNone/>
            </a:pPr>
            <a:r>
              <a:rPr lang="pl-PL" sz="942" dirty="0" err="1" smtClean="0"/>
              <a:t>Additionally</a:t>
            </a:r>
            <a:r>
              <a:rPr lang="pl-PL" sz="942" dirty="0" smtClean="0"/>
              <a:t> for </a:t>
            </a:r>
            <a:r>
              <a:rPr lang="pl-PL" sz="942" dirty="0" err="1" smtClean="0"/>
              <a:t>Neural</a:t>
            </a:r>
            <a:r>
              <a:rPr lang="pl-PL" sz="942" dirty="0" smtClean="0"/>
              <a:t> network </a:t>
            </a:r>
            <a:r>
              <a:rPr lang="pl-PL" sz="942" dirty="0" err="1" smtClean="0"/>
              <a:t>conducting</a:t>
            </a:r>
            <a:r>
              <a:rPr lang="pl-PL" sz="942" dirty="0" smtClean="0"/>
              <a:t> </a:t>
            </a:r>
            <a:r>
              <a:rPr lang="pl-PL" sz="942" dirty="0" err="1" smtClean="0"/>
              <a:t>second</a:t>
            </a:r>
            <a:r>
              <a:rPr lang="pl-PL" sz="942" dirty="0" smtClean="0"/>
              <a:t> </a:t>
            </a:r>
            <a:r>
              <a:rPr lang="pl-PL" sz="942" dirty="0" err="1" smtClean="0"/>
              <a:t>layer</a:t>
            </a:r>
            <a:r>
              <a:rPr lang="pl-PL" sz="942" dirty="0" smtClean="0"/>
              <a:t> of </a:t>
            </a:r>
            <a:r>
              <a:rPr lang="pl-PL" sz="942" dirty="0" err="1" smtClean="0"/>
              <a:t>tuning</a:t>
            </a:r>
            <a:r>
              <a:rPr lang="pl-PL" sz="942" dirty="0" smtClean="0"/>
              <a:t> for </a:t>
            </a:r>
            <a:r>
              <a:rPr lang="pl-PL" sz="942" dirty="0" err="1" smtClean="0"/>
              <a:t>different</a:t>
            </a:r>
            <a:r>
              <a:rPr lang="pl-PL" sz="942" dirty="0" smtClean="0"/>
              <a:t> </a:t>
            </a:r>
            <a:r>
              <a:rPr lang="pl-PL" sz="942" dirty="0" err="1" smtClean="0"/>
              <a:t>size</a:t>
            </a:r>
            <a:r>
              <a:rPr lang="pl-PL" sz="942" dirty="0" smtClean="0"/>
              <a:t> of set of </a:t>
            </a:r>
            <a:r>
              <a:rPr lang="pl-PL" sz="942" dirty="0" err="1" smtClean="0"/>
              <a:t>layers</a:t>
            </a:r>
            <a:r>
              <a:rPr lang="pl-PL" sz="942" dirty="0" smtClean="0"/>
              <a:t>.</a:t>
            </a:r>
            <a:endParaRPr lang="pl-PL" sz="942" dirty="0"/>
          </a:p>
          <a:p>
            <a:pPr marL="0" indent="0" algn="l">
              <a:lnSpc>
                <a:spcPts val="1500"/>
              </a:lnSpc>
              <a:buNone/>
            </a:pP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1519833"/>
            <a:ext cx="7520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FF4500"/>
                </a:solidFill>
              </a:rPr>
              <a:t>•</a:t>
            </a:r>
            <a:endParaRPr lang="en-US" sz="1486" dirty="0"/>
          </a:p>
        </p:txBody>
      </p:sp>
      <p:sp>
        <p:nvSpPr>
          <p:cNvPr id="20" name="Text 17"/>
          <p:cNvSpPr/>
          <p:nvPr/>
        </p:nvSpPr>
        <p:spPr>
          <a:xfrm>
            <a:off x="646705" y="2925194"/>
            <a:ext cx="1815067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FF4500"/>
                </a:solidFill>
              </a:rPr>
              <a:t>Accelerate </a:t>
            </a:r>
            <a:r>
              <a:rPr lang="pl-PL" sz="987" b="1" dirty="0" err="1" smtClean="0">
                <a:solidFill>
                  <a:srgbClr val="FF4500"/>
                </a:solidFill>
              </a:rPr>
              <a:t>charges</a:t>
            </a:r>
            <a:r>
              <a:rPr lang="pl-PL" sz="987" b="1" dirty="0">
                <a:solidFill>
                  <a:srgbClr val="FF4500"/>
                </a:solidFill>
              </a:rPr>
              <a:t> </a:t>
            </a:r>
            <a:r>
              <a:rPr lang="pl-PL" sz="987" b="1" dirty="0" err="1" smtClean="0">
                <a:solidFill>
                  <a:srgbClr val="FF4500"/>
                </a:solidFill>
              </a:rPr>
              <a:t>prediction</a:t>
            </a:r>
            <a:r>
              <a:rPr lang="en-US" sz="987" b="1" dirty="0" smtClean="0">
                <a:solidFill>
                  <a:srgbClr val="FF4500"/>
                </a:solidFill>
              </a:rPr>
              <a:t> through data-driven</a:t>
            </a:r>
            <a:r>
              <a:rPr lang="pl-PL" sz="987" b="1" dirty="0" smtClean="0">
                <a:solidFill>
                  <a:srgbClr val="FF4500"/>
                </a:solidFill>
              </a:rPr>
              <a:t> </a:t>
            </a:r>
            <a:r>
              <a:rPr lang="pl-PL" sz="987" b="1" dirty="0" err="1" smtClean="0">
                <a:solidFill>
                  <a:srgbClr val="FF4500"/>
                </a:solidFill>
              </a:rPr>
              <a:t>approach</a:t>
            </a:r>
            <a:endParaRPr lang="en-US" sz="987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954" y="2918646"/>
            <a:ext cx="3151058" cy="1889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3954" y="1132782"/>
            <a:ext cx="3151058" cy="1785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496" y="2657695"/>
            <a:ext cx="2218354" cy="2150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256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5" y="10859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955477"/>
            <a:ext cx="8001000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571500"/>
            <a:ext cx="8001000" cy="36804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pl-PL" sz="1602" b="1" dirty="0" err="1" smtClean="0">
                <a:solidFill>
                  <a:srgbClr val="1A1A1A"/>
                </a:solidFill>
              </a:rPr>
              <a:t>Final</a:t>
            </a:r>
            <a:r>
              <a:rPr lang="pl-PL" sz="1602" b="1" dirty="0" smtClean="0">
                <a:solidFill>
                  <a:srgbClr val="1A1A1A"/>
                </a:solidFill>
              </a:rPr>
              <a:t> </a:t>
            </a:r>
            <a:r>
              <a:rPr lang="pl-PL" sz="1602" b="1" dirty="0" err="1" smtClean="0">
                <a:solidFill>
                  <a:srgbClr val="1A1A1A"/>
                </a:solidFill>
              </a:rPr>
              <a:t>results</a:t>
            </a:r>
            <a:r>
              <a:rPr lang="pl-PL" sz="1602" b="1" dirty="0" smtClean="0">
                <a:solidFill>
                  <a:srgbClr val="1A1A1A"/>
                </a:solidFill>
              </a:rPr>
              <a:t> and </a:t>
            </a:r>
            <a:r>
              <a:rPr lang="pl-PL" sz="1602" b="1" dirty="0" err="1" smtClean="0">
                <a:solidFill>
                  <a:srgbClr val="1A1A1A"/>
                </a:solidFill>
              </a:rPr>
              <a:t>recommendations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241227"/>
            <a:ext cx="1519519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pl-PL" sz="1090" b="1" kern="0" spc="1" dirty="0" err="1" smtClean="0">
                <a:solidFill>
                  <a:srgbClr val="1A1A1A"/>
                </a:solidFill>
              </a:rPr>
              <a:t>Quantitative</a:t>
            </a:r>
            <a:r>
              <a:rPr lang="pl-PL" sz="1090" b="1" kern="0" spc="1" dirty="0" smtClean="0">
                <a:solidFill>
                  <a:srgbClr val="1A1A1A"/>
                </a:solidFill>
              </a:rPr>
              <a:t> performance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1541264"/>
            <a:ext cx="3840463" cy="38472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pl-PL" sz="942" dirty="0" err="1" smtClean="0">
                <a:solidFill>
                  <a:srgbClr val="333333"/>
                </a:solidFill>
              </a:rPr>
              <a:t>Models</a:t>
            </a:r>
            <a:r>
              <a:rPr lang="pl-PL" sz="942" dirty="0" smtClean="0">
                <a:solidFill>
                  <a:srgbClr val="333333"/>
                </a:solidFill>
              </a:rPr>
              <a:t> </a:t>
            </a:r>
            <a:r>
              <a:rPr lang="pl-PL" sz="942" dirty="0" err="1" smtClean="0">
                <a:solidFill>
                  <a:srgbClr val="333333"/>
                </a:solidFill>
              </a:rPr>
              <a:t>are</a:t>
            </a:r>
            <a:r>
              <a:rPr lang="pl-PL" sz="942" dirty="0" smtClean="0">
                <a:solidFill>
                  <a:srgbClr val="333333"/>
                </a:solidFill>
              </a:rPr>
              <a:t> </a:t>
            </a:r>
            <a:r>
              <a:rPr lang="pl-PL" sz="942" dirty="0" err="1" smtClean="0">
                <a:solidFill>
                  <a:srgbClr val="333333"/>
                </a:solidFill>
              </a:rPr>
              <a:t>stable</a:t>
            </a:r>
            <a:r>
              <a:rPr lang="pl-PL" sz="942" dirty="0" smtClean="0">
                <a:solidFill>
                  <a:srgbClr val="333333"/>
                </a:solidFill>
              </a:rPr>
              <a:t> on </a:t>
            </a:r>
            <a:r>
              <a:rPr lang="pl-PL" sz="942" dirty="0" err="1" smtClean="0">
                <a:solidFill>
                  <a:srgbClr val="333333"/>
                </a:solidFill>
              </a:rPr>
              <a:t>training</a:t>
            </a:r>
            <a:r>
              <a:rPr lang="pl-PL" sz="942" dirty="0" smtClean="0">
                <a:solidFill>
                  <a:srgbClr val="333333"/>
                </a:solidFill>
              </a:rPr>
              <a:t>, </a:t>
            </a:r>
            <a:r>
              <a:rPr lang="pl-PL" sz="942" dirty="0" err="1" smtClean="0">
                <a:solidFill>
                  <a:srgbClr val="333333"/>
                </a:solidFill>
              </a:rPr>
              <a:t>testing</a:t>
            </a:r>
            <a:r>
              <a:rPr lang="pl-PL" sz="942" dirty="0" smtClean="0">
                <a:solidFill>
                  <a:srgbClr val="333333"/>
                </a:solidFill>
              </a:rPr>
              <a:t> and </a:t>
            </a:r>
            <a:r>
              <a:rPr lang="pl-PL" sz="942" dirty="0" err="1" smtClean="0">
                <a:solidFill>
                  <a:srgbClr val="333333"/>
                </a:solidFill>
              </a:rPr>
              <a:t>valdiation</a:t>
            </a:r>
            <a:r>
              <a:rPr lang="pl-PL" sz="942" dirty="0" smtClean="0">
                <a:solidFill>
                  <a:srgbClr val="333333"/>
                </a:solidFill>
              </a:rPr>
              <a:t> </a:t>
            </a:r>
            <a:r>
              <a:rPr lang="pl-PL" sz="942" dirty="0" err="1" smtClean="0">
                <a:solidFill>
                  <a:srgbClr val="333333"/>
                </a:solidFill>
              </a:rPr>
              <a:t>datasets</a:t>
            </a:r>
            <a:r>
              <a:rPr lang="pl-PL" sz="942" dirty="0" smtClean="0">
                <a:solidFill>
                  <a:srgbClr val="333333"/>
                </a:solidFill>
              </a:rPr>
              <a:t> with </a:t>
            </a:r>
            <a:r>
              <a:rPr lang="pl-PL" sz="942" dirty="0" err="1" smtClean="0">
                <a:solidFill>
                  <a:srgbClr val="333333"/>
                </a:solidFill>
              </a:rPr>
              <a:t>difference</a:t>
            </a:r>
            <a:r>
              <a:rPr lang="pl-PL" sz="942" dirty="0" smtClean="0">
                <a:solidFill>
                  <a:srgbClr val="333333"/>
                </a:solidFill>
              </a:rPr>
              <a:t> of 2-3 pp.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571500" y="1519833"/>
            <a:ext cx="7520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FF4500"/>
                </a:solidFill>
              </a:rPr>
              <a:t>•</a:t>
            </a:r>
            <a:endParaRPr lang="en-US" sz="1486" dirty="0"/>
          </a:p>
        </p:txBody>
      </p:sp>
      <p:sp>
        <p:nvSpPr>
          <p:cNvPr id="16" name="Text 13"/>
          <p:cNvSpPr/>
          <p:nvPr/>
        </p:nvSpPr>
        <p:spPr>
          <a:xfrm>
            <a:off x="4732037" y="1241227"/>
            <a:ext cx="38404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A1A1A"/>
                </a:solidFill>
              </a:rPr>
              <a:t>Recommendations</a:t>
            </a:r>
            <a:endParaRPr lang="en-US" sz="1090" dirty="0"/>
          </a:p>
        </p:txBody>
      </p:sp>
      <p:sp>
        <p:nvSpPr>
          <p:cNvPr id="19" name="Text 16"/>
          <p:cNvSpPr/>
          <p:nvPr/>
        </p:nvSpPr>
        <p:spPr>
          <a:xfrm>
            <a:off x="4732037" y="2585216"/>
            <a:ext cx="1773691" cy="192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pl-PL" sz="1090" b="1" kern="0" spc="1" dirty="0" err="1" smtClean="0">
                <a:solidFill>
                  <a:srgbClr val="1A1A1A"/>
                </a:solidFill>
              </a:rPr>
              <a:t>Explanation</a:t>
            </a:r>
            <a:r>
              <a:rPr lang="pl-PL" sz="1090" b="1" kern="0" spc="1" dirty="0" smtClean="0">
                <a:solidFill>
                  <a:srgbClr val="1A1A1A"/>
                </a:solidFill>
              </a:rPr>
              <a:t> of the </a:t>
            </a:r>
            <a:r>
              <a:rPr lang="pl-PL" sz="1090" b="1" kern="0" spc="1" dirty="0" err="1" smtClean="0">
                <a:solidFill>
                  <a:srgbClr val="1A1A1A"/>
                </a:solidFill>
              </a:rPr>
              <a:t>best</a:t>
            </a:r>
            <a:r>
              <a:rPr lang="pl-PL" sz="1090" b="1" kern="0" spc="1" dirty="0" smtClean="0">
                <a:solidFill>
                  <a:srgbClr val="1A1A1A"/>
                </a:solidFill>
              </a:rPr>
              <a:t> </a:t>
            </a:r>
            <a:r>
              <a:rPr lang="pl-PL" sz="1090" b="1" kern="0" spc="1" dirty="0" err="1" smtClean="0">
                <a:solidFill>
                  <a:srgbClr val="1A1A1A"/>
                </a:solidFill>
              </a:rPr>
              <a:t>results</a:t>
            </a:r>
            <a:endParaRPr lang="en-US" sz="1090" dirty="0"/>
          </a:p>
        </p:txBody>
      </p:sp>
      <p:sp>
        <p:nvSpPr>
          <p:cNvPr id="20" name="Text 17"/>
          <p:cNvSpPr/>
          <p:nvPr/>
        </p:nvSpPr>
        <p:spPr>
          <a:xfrm>
            <a:off x="4732037" y="2885254"/>
            <a:ext cx="3840463" cy="410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pl-PL" sz="987" b="1" dirty="0" smtClean="0">
                <a:solidFill>
                  <a:srgbClr val="FF4500"/>
                </a:solidFill>
              </a:rPr>
              <a:t>The model performance in </a:t>
            </a:r>
            <a:r>
              <a:rPr lang="pl-PL" sz="987" b="1" dirty="0" err="1" smtClean="0">
                <a:solidFill>
                  <a:srgbClr val="FF4500"/>
                </a:solidFill>
              </a:rPr>
              <a:t>measured</a:t>
            </a:r>
            <a:r>
              <a:rPr lang="pl-PL" sz="987" b="1" dirty="0" smtClean="0">
                <a:solidFill>
                  <a:srgbClr val="FF4500"/>
                </a:solidFill>
              </a:rPr>
              <a:t> by 2 major </a:t>
            </a:r>
            <a:r>
              <a:rPr lang="pl-PL" sz="987" b="1" dirty="0" err="1" smtClean="0">
                <a:solidFill>
                  <a:srgbClr val="FF4500"/>
                </a:solidFill>
              </a:rPr>
              <a:t>statistics</a:t>
            </a:r>
            <a:r>
              <a:rPr lang="pl-PL" sz="987" b="1" dirty="0" smtClean="0">
                <a:solidFill>
                  <a:srgbClr val="FF4500"/>
                </a:solidFill>
              </a:rPr>
              <a:t>: MAE/MAPE and R2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4732037" y="3342454"/>
            <a:ext cx="3840463" cy="1154162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pl-PL" sz="942" dirty="0" smtClean="0">
                <a:solidFill>
                  <a:srgbClr val="333333"/>
                </a:solidFill>
              </a:rPr>
              <a:t>R2 </a:t>
            </a:r>
            <a:r>
              <a:rPr lang="pl-PL" sz="942" dirty="0" err="1" smtClean="0">
                <a:solidFill>
                  <a:srgbClr val="333333"/>
                </a:solidFill>
              </a:rPr>
              <a:t>represents</a:t>
            </a:r>
            <a:r>
              <a:rPr lang="pl-PL" sz="942" dirty="0" smtClean="0">
                <a:solidFill>
                  <a:srgbClr val="333333"/>
                </a:solidFill>
              </a:rPr>
              <a:t> </a:t>
            </a:r>
            <a:r>
              <a:rPr lang="pl-PL" sz="942" dirty="0">
                <a:solidFill>
                  <a:srgbClr val="333333"/>
                </a:solidFill>
              </a:rPr>
              <a:t>i</a:t>
            </a:r>
            <a:r>
              <a:rPr lang="en-US" sz="942" dirty="0" err="1" smtClean="0">
                <a:solidFill>
                  <a:srgbClr val="333333"/>
                </a:solidFill>
              </a:rPr>
              <a:t>mproved</a:t>
            </a:r>
            <a:r>
              <a:rPr lang="pl-PL" sz="942" dirty="0" smtClean="0">
                <a:solidFill>
                  <a:srgbClr val="333333"/>
                </a:solidFill>
              </a:rPr>
              <a:t> </a:t>
            </a:r>
            <a:r>
              <a:rPr lang="pl-PL" sz="942" dirty="0" err="1" smtClean="0">
                <a:solidFill>
                  <a:srgbClr val="333333"/>
                </a:solidFill>
              </a:rPr>
              <a:t>explainability</a:t>
            </a:r>
            <a:r>
              <a:rPr lang="pl-PL" sz="942" dirty="0" smtClean="0">
                <a:solidFill>
                  <a:srgbClr val="333333"/>
                </a:solidFill>
              </a:rPr>
              <a:t> of the model </a:t>
            </a:r>
            <a:r>
              <a:rPr lang="pl-PL" sz="942" dirty="0" err="1" smtClean="0">
                <a:solidFill>
                  <a:srgbClr val="333333"/>
                </a:solidFill>
              </a:rPr>
              <a:t>while</a:t>
            </a:r>
            <a:r>
              <a:rPr lang="pl-PL" sz="942" dirty="0" smtClean="0">
                <a:solidFill>
                  <a:srgbClr val="333333"/>
                </a:solidFill>
              </a:rPr>
              <a:t> </a:t>
            </a:r>
            <a:r>
              <a:rPr lang="pl-PL" sz="942" dirty="0" err="1" smtClean="0">
                <a:solidFill>
                  <a:srgbClr val="333333"/>
                </a:solidFill>
              </a:rPr>
              <a:t>variance</a:t>
            </a:r>
            <a:r>
              <a:rPr lang="pl-PL" sz="942" dirty="0" smtClean="0">
                <a:solidFill>
                  <a:srgbClr val="333333"/>
                </a:solidFill>
              </a:rPr>
              <a:t>. </a:t>
            </a:r>
            <a:r>
              <a:rPr lang="pl-PL" sz="942" dirty="0" err="1" smtClean="0">
                <a:solidFill>
                  <a:srgbClr val="333333"/>
                </a:solidFill>
              </a:rPr>
              <a:t>However</a:t>
            </a:r>
            <a:r>
              <a:rPr lang="pl-PL" sz="942" dirty="0" smtClean="0">
                <a:solidFill>
                  <a:srgbClr val="333333"/>
                </a:solidFill>
              </a:rPr>
              <a:t> </a:t>
            </a:r>
            <a:r>
              <a:rPr lang="pl-PL" sz="942" dirty="0" err="1" smtClean="0">
                <a:solidFill>
                  <a:srgbClr val="333333"/>
                </a:solidFill>
              </a:rPr>
              <a:t>due</a:t>
            </a:r>
            <a:r>
              <a:rPr lang="pl-PL" sz="942" dirty="0" smtClean="0">
                <a:solidFill>
                  <a:srgbClr val="333333"/>
                </a:solidFill>
              </a:rPr>
              <a:t> to </a:t>
            </a:r>
            <a:r>
              <a:rPr lang="pl-PL" sz="942" dirty="0" err="1" smtClean="0">
                <a:solidFill>
                  <a:srgbClr val="333333"/>
                </a:solidFill>
              </a:rPr>
              <a:t>scaling</a:t>
            </a:r>
            <a:r>
              <a:rPr lang="pl-PL" sz="942" dirty="0" smtClean="0">
                <a:solidFill>
                  <a:srgbClr val="333333"/>
                </a:solidFill>
              </a:rPr>
              <a:t> of target </a:t>
            </a:r>
            <a:r>
              <a:rPr lang="pl-PL" sz="942" dirty="0" err="1" smtClean="0">
                <a:solidFill>
                  <a:srgbClr val="333333"/>
                </a:solidFill>
              </a:rPr>
              <a:t>it’s</a:t>
            </a:r>
            <a:r>
              <a:rPr lang="pl-PL" sz="942" dirty="0" smtClean="0">
                <a:solidFill>
                  <a:srgbClr val="333333"/>
                </a:solidFill>
              </a:rPr>
              <a:t> </a:t>
            </a:r>
            <a:r>
              <a:rPr lang="pl-PL" sz="942" dirty="0" err="1" smtClean="0">
                <a:solidFill>
                  <a:srgbClr val="333333"/>
                </a:solidFill>
              </a:rPr>
              <a:t>recommended</a:t>
            </a:r>
            <a:r>
              <a:rPr lang="pl-PL" sz="942" dirty="0" smtClean="0">
                <a:solidFill>
                  <a:srgbClr val="333333"/>
                </a:solidFill>
              </a:rPr>
              <a:t> </a:t>
            </a:r>
            <a:r>
              <a:rPr lang="pl-PL" sz="942" dirty="0" err="1" smtClean="0">
                <a:solidFill>
                  <a:srgbClr val="333333"/>
                </a:solidFill>
              </a:rPr>
              <a:t>tooptmize</a:t>
            </a:r>
            <a:r>
              <a:rPr lang="pl-PL" sz="942" dirty="0" smtClean="0">
                <a:solidFill>
                  <a:srgbClr val="333333"/>
                </a:solidFill>
              </a:rPr>
              <a:t> model </a:t>
            </a:r>
            <a:r>
              <a:rPr lang="pl-PL" sz="942" dirty="0" err="1" smtClean="0">
                <a:solidFill>
                  <a:srgbClr val="333333"/>
                </a:solidFill>
              </a:rPr>
              <a:t>further</a:t>
            </a:r>
            <a:r>
              <a:rPr lang="pl-PL" sz="942" dirty="0" smtClean="0">
                <a:solidFill>
                  <a:srgbClr val="333333"/>
                </a:solidFill>
              </a:rPr>
              <a:t> with </a:t>
            </a:r>
            <a:r>
              <a:rPr lang="pl-PL" sz="942" dirty="0" err="1" smtClean="0">
                <a:solidFill>
                  <a:srgbClr val="333333"/>
                </a:solidFill>
              </a:rPr>
              <a:t>another</a:t>
            </a:r>
            <a:r>
              <a:rPr lang="pl-PL" sz="942" dirty="0" smtClean="0">
                <a:solidFill>
                  <a:srgbClr val="333333"/>
                </a:solidFill>
              </a:rPr>
              <a:t> data. The model </a:t>
            </a:r>
            <a:r>
              <a:rPr lang="pl-PL" sz="942" dirty="0" err="1" smtClean="0">
                <a:solidFill>
                  <a:srgbClr val="333333"/>
                </a:solidFill>
              </a:rPr>
              <a:t>explains</a:t>
            </a:r>
            <a:r>
              <a:rPr lang="pl-PL" sz="942" dirty="0" smtClean="0">
                <a:solidFill>
                  <a:srgbClr val="333333"/>
                </a:solidFill>
              </a:rPr>
              <a:t> 87/91% of </a:t>
            </a:r>
            <a:r>
              <a:rPr lang="pl-PL" sz="942" dirty="0" err="1" smtClean="0">
                <a:solidFill>
                  <a:srgbClr val="333333"/>
                </a:solidFill>
              </a:rPr>
              <a:t>variance</a:t>
            </a:r>
            <a:r>
              <a:rPr lang="pl-PL" sz="942" dirty="0" smtClean="0">
                <a:solidFill>
                  <a:srgbClr val="333333"/>
                </a:solidFill>
              </a:rPr>
              <a:t> of </a:t>
            </a:r>
            <a:r>
              <a:rPr lang="pl-PL" sz="942" dirty="0" err="1" smtClean="0">
                <a:solidFill>
                  <a:srgbClr val="333333"/>
                </a:solidFill>
              </a:rPr>
              <a:t>scaled</a:t>
            </a:r>
            <a:r>
              <a:rPr lang="pl-PL" sz="942" dirty="0" smtClean="0">
                <a:solidFill>
                  <a:srgbClr val="333333"/>
                </a:solidFill>
              </a:rPr>
              <a:t>/</a:t>
            </a:r>
            <a:r>
              <a:rPr lang="pl-PL" sz="942" dirty="0" err="1" smtClean="0">
                <a:solidFill>
                  <a:srgbClr val="333333"/>
                </a:solidFill>
              </a:rPr>
              <a:t>unscaled</a:t>
            </a:r>
            <a:r>
              <a:rPr lang="pl-PL" sz="942" dirty="0" smtClean="0">
                <a:solidFill>
                  <a:srgbClr val="333333"/>
                </a:solidFill>
              </a:rPr>
              <a:t> data.</a:t>
            </a:r>
          </a:p>
          <a:p>
            <a:pPr>
              <a:lnSpc>
                <a:spcPts val="1500"/>
              </a:lnSpc>
            </a:pPr>
            <a:r>
              <a:rPr lang="pl-PL" sz="942" dirty="0" smtClean="0"/>
              <a:t>MAE </a:t>
            </a:r>
            <a:r>
              <a:rPr lang="pl-PL" sz="942" dirty="0" err="1" smtClean="0"/>
              <a:t>provides</a:t>
            </a:r>
            <a:r>
              <a:rPr lang="pl-PL" sz="942" dirty="0" smtClean="0"/>
              <a:t> </a:t>
            </a:r>
            <a:r>
              <a:rPr lang="pl-PL" sz="942" dirty="0" err="1" smtClean="0"/>
              <a:t>information</a:t>
            </a:r>
            <a:r>
              <a:rPr lang="pl-PL" sz="942" dirty="0" smtClean="0"/>
              <a:t> </a:t>
            </a:r>
            <a:r>
              <a:rPr lang="pl-PL" sz="942" dirty="0" err="1" smtClean="0"/>
              <a:t>about</a:t>
            </a:r>
            <a:r>
              <a:rPr lang="pl-PL" sz="942" dirty="0"/>
              <a:t> </a:t>
            </a:r>
            <a:r>
              <a:rPr lang="en-US" sz="1000" dirty="0" smtClean="0"/>
              <a:t>how far </a:t>
            </a:r>
            <a:r>
              <a:rPr lang="en-US" sz="1000" dirty="0"/>
              <a:t>on </a:t>
            </a:r>
            <a:r>
              <a:rPr lang="en-US" sz="1000" dirty="0" smtClean="0"/>
              <a:t>average</a:t>
            </a:r>
            <a:r>
              <a:rPr lang="pl-PL" sz="1000" dirty="0" smtClean="0"/>
              <a:t> </a:t>
            </a:r>
            <a:r>
              <a:rPr lang="en-US" sz="1000" dirty="0" smtClean="0"/>
              <a:t>predictions </a:t>
            </a:r>
            <a:r>
              <a:rPr lang="en-US" sz="1000" dirty="0"/>
              <a:t>are from the actual target </a:t>
            </a:r>
            <a:r>
              <a:rPr lang="en-US" sz="1000" dirty="0" smtClean="0"/>
              <a:t>values</a:t>
            </a:r>
            <a:r>
              <a:rPr lang="pl-PL" sz="1000" dirty="0"/>
              <a:t> </a:t>
            </a:r>
            <a:r>
              <a:rPr lang="pl-PL" sz="1000" dirty="0" err="1" smtClean="0"/>
              <a:t>which</a:t>
            </a:r>
            <a:r>
              <a:rPr lang="pl-PL" sz="1000" dirty="0" smtClean="0"/>
              <a:t> </a:t>
            </a:r>
            <a:r>
              <a:rPr lang="pl-PL" sz="1000" dirty="0" err="1" smtClean="0"/>
              <a:t>is</a:t>
            </a:r>
            <a:r>
              <a:rPr lang="pl-PL" sz="1000" dirty="0" smtClean="0"/>
              <a:t> $2143.66.</a:t>
            </a:r>
            <a:endParaRPr lang="pl-PL" sz="942" dirty="0" smtClean="0"/>
          </a:p>
        </p:txBody>
      </p:sp>
      <p:sp>
        <p:nvSpPr>
          <p:cNvPr id="22" name="Text 19"/>
          <p:cNvSpPr/>
          <p:nvPr/>
        </p:nvSpPr>
        <p:spPr>
          <a:xfrm>
            <a:off x="4732037" y="4079081"/>
            <a:ext cx="7520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FF4500"/>
                </a:solidFill>
              </a:rPr>
              <a:t>•</a:t>
            </a:r>
            <a:endParaRPr lang="en-US" sz="1486" dirty="0"/>
          </a:p>
        </p:txBody>
      </p:sp>
      <p:sp>
        <p:nvSpPr>
          <p:cNvPr id="23" name="Text 5"/>
          <p:cNvSpPr/>
          <p:nvPr/>
        </p:nvSpPr>
        <p:spPr>
          <a:xfrm>
            <a:off x="4732036" y="1605557"/>
            <a:ext cx="3840463" cy="577081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pl-PL" sz="885" dirty="0" err="1" smtClean="0"/>
              <a:t>Utilize</a:t>
            </a:r>
            <a:r>
              <a:rPr lang="pl-PL" sz="885" dirty="0" smtClean="0"/>
              <a:t> the model for </a:t>
            </a:r>
            <a:r>
              <a:rPr lang="pl-PL" sz="885" dirty="0" err="1" smtClean="0"/>
              <a:t>customers</a:t>
            </a:r>
            <a:r>
              <a:rPr lang="pl-PL" sz="885" dirty="0" smtClean="0"/>
              <a:t> in Z-</a:t>
            </a:r>
            <a:r>
              <a:rPr lang="pl-PL" sz="885" dirty="0" err="1" smtClean="0"/>
              <a:t>score</a:t>
            </a:r>
            <a:r>
              <a:rPr lang="pl-PL" sz="885" dirty="0" smtClean="0"/>
              <a:t> of 1.5. For </a:t>
            </a:r>
            <a:r>
              <a:rPr lang="pl-PL" sz="885" dirty="0" err="1" smtClean="0"/>
              <a:t>persons</a:t>
            </a:r>
            <a:r>
              <a:rPr lang="pl-PL" sz="885" dirty="0" smtClean="0"/>
              <a:t> in </a:t>
            </a:r>
            <a:r>
              <a:rPr lang="pl-PL" sz="885" dirty="0" err="1" smtClean="0"/>
              <a:t>outlier</a:t>
            </a:r>
            <a:r>
              <a:rPr lang="pl-PL" sz="885" dirty="0" smtClean="0"/>
              <a:t> </a:t>
            </a:r>
            <a:r>
              <a:rPr lang="pl-PL" sz="885" dirty="0" err="1" smtClean="0"/>
              <a:t>range</a:t>
            </a:r>
            <a:r>
              <a:rPr lang="pl-PL" sz="885" dirty="0" smtClean="0"/>
              <a:t>, </a:t>
            </a:r>
            <a:r>
              <a:rPr lang="pl-PL" sz="885" dirty="0" err="1" smtClean="0"/>
              <a:t>apply</a:t>
            </a:r>
            <a:r>
              <a:rPr lang="pl-PL" sz="885" dirty="0" smtClean="0"/>
              <a:t> </a:t>
            </a:r>
            <a:r>
              <a:rPr lang="pl-PL" sz="885" dirty="0" err="1" smtClean="0"/>
              <a:t>more</a:t>
            </a:r>
            <a:r>
              <a:rPr lang="pl-PL" sz="885" dirty="0" smtClean="0"/>
              <a:t> </a:t>
            </a:r>
            <a:r>
              <a:rPr lang="pl-PL" sz="885" dirty="0" err="1" smtClean="0"/>
              <a:t>qualitative</a:t>
            </a:r>
            <a:r>
              <a:rPr lang="pl-PL" sz="885" dirty="0" smtClean="0"/>
              <a:t> </a:t>
            </a:r>
            <a:r>
              <a:rPr lang="pl-PL" sz="885" dirty="0" err="1" smtClean="0"/>
              <a:t>analysis</a:t>
            </a:r>
            <a:r>
              <a:rPr lang="pl-PL" sz="885" dirty="0" smtClean="0"/>
              <a:t> </a:t>
            </a:r>
            <a:r>
              <a:rPr lang="pl-PL" sz="885" dirty="0" err="1" smtClean="0"/>
              <a:t>before</a:t>
            </a:r>
            <a:r>
              <a:rPr lang="pl-PL" sz="885" dirty="0" smtClean="0"/>
              <a:t> </a:t>
            </a:r>
            <a:r>
              <a:rPr lang="pl-PL" sz="885" dirty="0" err="1" smtClean="0"/>
              <a:t>defining</a:t>
            </a:r>
            <a:r>
              <a:rPr lang="pl-PL" sz="885" dirty="0" smtClean="0"/>
              <a:t> </a:t>
            </a:r>
            <a:r>
              <a:rPr lang="pl-PL" sz="885" dirty="0" err="1" smtClean="0"/>
              <a:t>charges</a:t>
            </a:r>
            <a:r>
              <a:rPr lang="pl-PL" sz="885" dirty="0" smtClean="0"/>
              <a:t>. </a:t>
            </a:r>
            <a:r>
              <a:rPr lang="pl-PL" sz="885" dirty="0" err="1" smtClean="0"/>
              <a:t>Conduct</a:t>
            </a:r>
            <a:r>
              <a:rPr lang="pl-PL" sz="885" dirty="0" smtClean="0"/>
              <a:t> </a:t>
            </a:r>
            <a:r>
              <a:rPr lang="pl-PL" sz="885" dirty="0" err="1" smtClean="0"/>
              <a:t>further</a:t>
            </a:r>
            <a:r>
              <a:rPr lang="pl-PL" sz="885" dirty="0" smtClean="0"/>
              <a:t> </a:t>
            </a:r>
            <a:r>
              <a:rPr lang="pl-PL" sz="885" dirty="0" err="1" smtClean="0"/>
              <a:t>segmentation</a:t>
            </a:r>
            <a:r>
              <a:rPr lang="pl-PL" sz="885" dirty="0" smtClean="0"/>
              <a:t> for the </a:t>
            </a:r>
            <a:r>
              <a:rPr lang="pl-PL" sz="885" dirty="0" err="1" smtClean="0"/>
              <a:t>specific</a:t>
            </a:r>
            <a:r>
              <a:rPr lang="pl-PL" sz="885" dirty="0" smtClean="0"/>
              <a:t> </a:t>
            </a:r>
            <a:r>
              <a:rPr lang="pl-PL" sz="885" dirty="0" err="1" smtClean="0"/>
              <a:t>client</a:t>
            </a:r>
            <a:r>
              <a:rPr lang="pl-PL" sz="885" dirty="0" smtClean="0"/>
              <a:t> </a:t>
            </a:r>
            <a:r>
              <a:rPr lang="pl-PL" sz="885" dirty="0" err="1" smtClean="0"/>
              <a:t>groups</a:t>
            </a:r>
            <a:r>
              <a:rPr lang="pl-PL" sz="885" dirty="0" smtClean="0"/>
              <a:t>.</a:t>
            </a:r>
            <a:endParaRPr lang="en-US" sz="885" dirty="0"/>
          </a:p>
        </p:txBody>
      </p:sp>
      <p:sp>
        <p:nvSpPr>
          <p:cNvPr id="24" name="Text 19"/>
          <p:cNvSpPr/>
          <p:nvPr/>
        </p:nvSpPr>
        <p:spPr>
          <a:xfrm>
            <a:off x="4732037" y="3393282"/>
            <a:ext cx="7520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486" dirty="0">
                <a:solidFill>
                  <a:srgbClr val="FF4500"/>
                </a:solidFill>
              </a:rPr>
              <a:t>•</a:t>
            </a:r>
            <a:endParaRPr lang="en-US" sz="1486" dirty="0"/>
          </a:p>
        </p:txBody>
      </p:sp>
      <p:graphicFrame>
        <p:nvGraphicFramePr>
          <p:cNvPr id="25" name="Tabela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749917"/>
              </p:ext>
            </p:extLst>
          </p:nvPr>
        </p:nvGraphicFramePr>
        <p:xfrm>
          <a:off x="231587" y="2153734"/>
          <a:ext cx="425489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724"/>
                <a:gridCol w="1063724"/>
                <a:gridCol w="1063724"/>
                <a:gridCol w="1063724"/>
              </a:tblGrid>
              <a:tr h="861859">
                <a:tc>
                  <a:txBody>
                    <a:bodyPr/>
                    <a:lstStyle/>
                    <a:p>
                      <a:r>
                        <a:rPr lang="pl-PL" dirty="0" err="1" smtClean="0"/>
                        <a:t>Metrics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err="1" smtClean="0"/>
                        <a:t>Random</a:t>
                      </a:r>
                      <a:r>
                        <a:rPr lang="pl-PL" dirty="0" smtClean="0"/>
                        <a:t> </a:t>
                      </a:r>
                      <a:r>
                        <a:rPr lang="pl-PL" dirty="0" err="1" smtClean="0"/>
                        <a:t>Forest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err="1" smtClean="0"/>
                        <a:t>Dense</a:t>
                      </a:r>
                      <a:r>
                        <a:rPr lang="pl-PL" baseline="0" dirty="0" smtClean="0"/>
                        <a:t> </a:t>
                      </a:r>
                      <a:r>
                        <a:rPr lang="pl-PL" baseline="0" dirty="0" err="1" smtClean="0"/>
                        <a:t>Neural</a:t>
                      </a:r>
                      <a:r>
                        <a:rPr lang="pl-PL" baseline="0" dirty="0" smtClean="0"/>
                        <a:t> Network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 err="1" smtClean="0"/>
                        <a:t>XGBoost</a:t>
                      </a:r>
                      <a:endParaRPr lang="pl-PL" dirty="0"/>
                    </a:p>
                  </a:txBody>
                  <a:tcPr/>
                </a:tc>
              </a:tr>
              <a:tr h="339206">
                <a:tc>
                  <a:txBody>
                    <a:bodyPr/>
                    <a:lstStyle/>
                    <a:p>
                      <a:r>
                        <a:rPr lang="pl-PL" dirty="0" smtClean="0"/>
                        <a:t>R2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0.83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0.85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</a:t>
                      </a:r>
                      <a:endParaRPr lang="pl-PL" sz="1200" dirty="0"/>
                    </a:p>
                  </a:txBody>
                  <a:tcPr/>
                </a:tc>
              </a:tr>
              <a:tr h="339206">
                <a:tc>
                  <a:txBody>
                    <a:bodyPr/>
                    <a:lstStyle/>
                    <a:p>
                      <a:r>
                        <a:rPr lang="pl-PL" dirty="0" smtClean="0"/>
                        <a:t>MSE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24392734.83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22006014.00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20502245.27</a:t>
                      </a:r>
                      <a:endParaRPr lang="pl-PL" sz="1200" dirty="0"/>
                    </a:p>
                  </a:txBody>
                  <a:tcPr/>
                </a:tc>
              </a:tr>
              <a:tr h="339206">
                <a:tc>
                  <a:txBody>
                    <a:bodyPr/>
                    <a:lstStyle/>
                    <a:p>
                      <a:r>
                        <a:rPr lang="pl-PL" dirty="0" smtClean="0"/>
                        <a:t>MAE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2636.31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2585.16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2143.66</a:t>
                      </a:r>
                      <a:endParaRPr lang="pl-PL" sz="1200" dirty="0"/>
                    </a:p>
                  </a:txBody>
                  <a:tcPr/>
                </a:tc>
              </a:tr>
              <a:tr h="339206">
                <a:tc>
                  <a:txBody>
                    <a:bodyPr/>
                    <a:lstStyle/>
                    <a:p>
                      <a:r>
                        <a:rPr lang="pl-PL" dirty="0" smtClean="0"/>
                        <a:t>MAPE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0.21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0.29</a:t>
                      </a:r>
                      <a:endParaRPr lang="pl-P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2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</a:t>
                      </a:r>
                      <a:endParaRPr lang="pl-PL" sz="12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56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FABD7BE-3A8B-74BE-ED14-698CEA2CE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xmlns="" id="{C064D82F-EB27-E8FF-C5B5-099770367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xmlns="" id="{665BE637-6534-A178-7488-EDDB6A75A232}"/>
              </a:ext>
            </a:extLst>
          </p:cNvPr>
          <p:cNvSpPr/>
          <p:nvPr/>
        </p:nvSpPr>
        <p:spPr>
          <a:xfrm>
            <a:off x="571500" y="571500"/>
            <a:ext cx="8001000" cy="41255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xmlns="" id="{10D75C7C-45EC-82C5-FE1F-4A53323AB207}"/>
              </a:ext>
            </a:extLst>
          </p:cNvPr>
          <p:cNvSpPr/>
          <p:nvPr/>
        </p:nvSpPr>
        <p:spPr>
          <a:xfrm>
            <a:off x="571500" y="1899854"/>
            <a:ext cx="8001000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xmlns="" id="{41D81E7D-B267-A9D8-7CB1-B3729B7B27BC}"/>
              </a:ext>
            </a:extLst>
          </p:cNvPr>
          <p:cNvSpPr/>
          <p:nvPr/>
        </p:nvSpPr>
        <p:spPr>
          <a:xfrm>
            <a:off x="294182" y="870593"/>
            <a:ext cx="8001000" cy="432939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4000" b="1" dirty="0">
                <a:solidFill>
                  <a:srgbClr val="1A1A1A"/>
                </a:solidFill>
              </a:rPr>
              <a:t>Q &amp; A</a:t>
            </a:r>
            <a:endParaRPr lang="en-US" sz="4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xmlns="" id="{072C7083-F647-CA0D-00A3-FC398BD48728}"/>
              </a:ext>
            </a:extLst>
          </p:cNvPr>
          <p:cNvSpPr/>
          <p:nvPr/>
        </p:nvSpPr>
        <p:spPr>
          <a:xfrm>
            <a:off x="571500" y="1241227"/>
            <a:ext cx="65" cy="1811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109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xmlns="" id="{0B651375-AA68-975C-6921-408285EBAAD8}"/>
              </a:ext>
            </a:extLst>
          </p:cNvPr>
          <p:cNvSpPr/>
          <p:nvPr/>
        </p:nvSpPr>
        <p:spPr>
          <a:xfrm>
            <a:off x="571500" y="1541264"/>
            <a:ext cx="3840463" cy="17613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942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xmlns="" id="{3CD40021-04B0-6943-F223-2D0519954E00}"/>
              </a:ext>
            </a:extLst>
          </p:cNvPr>
          <p:cNvSpPr/>
          <p:nvPr/>
        </p:nvSpPr>
        <p:spPr>
          <a:xfrm>
            <a:off x="571500" y="1991320"/>
            <a:ext cx="65" cy="2811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endParaRPr lang="en-US" sz="1486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xmlns="" id="{AA27C91A-1C86-FF36-86AE-107CD8EBE79E}"/>
              </a:ext>
            </a:extLst>
          </p:cNvPr>
          <p:cNvSpPr/>
          <p:nvPr/>
        </p:nvSpPr>
        <p:spPr>
          <a:xfrm>
            <a:off x="571500" y="3607594"/>
            <a:ext cx="65" cy="2811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endParaRPr lang="en-US" sz="1486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xmlns="" id="{8ECBD962-214C-1491-A3D9-5133D6B49743}"/>
              </a:ext>
            </a:extLst>
          </p:cNvPr>
          <p:cNvSpPr/>
          <p:nvPr/>
        </p:nvSpPr>
        <p:spPr>
          <a:xfrm>
            <a:off x="4732037" y="4079081"/>
            <a:ext cx="65" cy="2811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endParaRPr lang="en-US" sz="1486" dirty="0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xmlns="" id="{6F0EE53F-07FD-9E52-6379-1E95210022CE}"/>
              </a:ext>
            </a:extLst>
          </p:cNvPr>
          <p:cNvSpPr/>
          <p:nvPr/>
        </p:nvSpPr>
        <p:spPr>
          <a:xfrm>
            <a:off x="571500" y="4922874"/>
            <a:ext cx="8001000" cy="28575"/>
          </a:xfrm>
          <a:prstGeom prst="rect">
            <a:avLst/>
          </a:prstGeom>
          <a:solidFill>
            <a:srgbClr val="FF4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FE882A61-EAB2-F3F0-0A9D-8E453FE35C75}"/>
              </a:ext>
            </a:extLst>
          </p:cNvPr>
          <p:cNvSpPr/>
          <p:nvPr/>
        </p:nvSpPr>
        <p:spPr>
          <a:xfrm>
            <a:off x="3027410" y="2684264"/>
            <a:ext cx="30891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22049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11227</TotalTime>
  <Words>842</Words>
  <Application>Microsoft Office PowerPoint</Application>
  <PresentationFormat>Pokaz na ekranie (16:9)</PresentationFormat>
  <Paragraphs>139</Paragraphs>
  <Slides>10</Slides>
  <Notes>10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1" baseType="lpstr"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</cp:lastModifiedBy>
  <cp:revision>24</cp:revision>
  <dcterms:created xsi:type="dcterms:W3CDTF">2025-12-14T14:49:51Z</dcterms:created>
  <dcterms:modified xsi:type="dcterms:W3CDTF">2025-12-23T21:24:30Z</dcterms:modified>
</cp:coreProperties>
</file>